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63E8"/>
          </a:solidFill>
          <a:ln w="12700">
            <a:solidFill>
              <a:srgbClr val="5B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5200" b="1" ns0:eastAsia="微软雅黑">
                <a:solidFill>
                  <a:srgbClr val="1A1A2E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2400" b="0" ns1:eastAsia="微软雅黑">
                <a:solidFill>
                  <a:srgbClr val="5B63E8"/>
                </a:solidFill>
                <a:latin typeface="微软雅黑"/>
              </a:rPr>
              <a:t>让 AI 先质疑你的创业想法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="http://schemas.openxmlformats.org/wordprocessingml/2006/main" sz="1500" b="0" ns2:eastAsia="微软雅黑">
                <a:solidFill>
                  <a:srgbClr val="6B7280"/>
                </a:solidFill>
                <a:latin typeface="微软雅黑"/>
              </a:rPr>
              <a:t>不是帮你把商业计划写得更漂亮，而是先让它经受一场委员会的挑战。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760720"/>
            <a:ext cx="1645920" cy="329184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EE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79729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3="http://schemas.openxmlformats.org/wordprocessingml/2006/main" sz="1100" b="1" ns3:eastAsia="微软雅黑">
                <a:solidFill>
                  <a:srgbClr val="4F7DFF"/>
                </a:solidFill>
                <a:latin typeface="微软雅黑"/>
              </a:rPr>
              <a:t>12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5760720"/>
            <a:ext cx="1645920" cy="329184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579729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4="http://schemas.openxmlformats.org/wordprocessingml/2006/main" sz="1100" b="1" ns4:eastAsia="微软雅黑">
                <a:solidFill>
                  <a:srgbClr val="E85B5B"/>
                </a:solidFill>
                <a:latin typeface="微软雅黑"/>
              </a:rPr>
              <a:t>三委员会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5760720"/>
            <a:ext cx="1645920" cy="329184"/>
          </a:xfrm>
          <a:prstGeom prst="roundRect">
            <a:avLst/>
          </a:prstGeom>
          <a:solidFill>
            <a:srgbClr val="F2EEFB"/>
          </a:solidFill>
          <a:ln w="12700">
            <a:solidFill>
              <a:srgbClr val="F2E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579729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5="http://schemas.openxmlformats.org/wordprocessingml/2006/main" sz="1100" b="1" ns5:eastAsia="微软雅黑">
                <a:solidFill>
                  <a:srgbClr val="7A65D8"/>
                </a:solidFill>
                <a:latin typeface="微软雅黑"/>
              </a:rPr>
              <a:t>5层DAG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5760720"/>
            <a:ext cx="1645920" cy="329184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EE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579729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6="http://schemas.openxmlformats.org/wordprocessingml/2006/main" sz="1100" b="1" ns6:eastAsia="微软雅黑">
                <a:solidFill>
                  <a:srgbClr val="5B63E8"/>
                </a:solidFill>
                <a:latin typeface="微软雅黑"/>
              </a:rPr>
              <a:t>真实全链路运行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1100" b="1" ns0:eastAsia="微软雅黑">
                <a:solidFill>
                  <a:srgbClr val="5B63E8"/>
                </a:solidFill>
                <a:latin typeface="微软雅黑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2800" b="1" ns1:eastAsia="微软雅黑">
                <a:solidFill>
                  <a:srgbClr val="1A1A2E"/>
                </a:solidFill>
                <a:latin typeface="微软雅黑"/>
              </a:rPr>
              <a:t>这是一个普通的 AI 写作工具吗？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="http://schemas.openxmlformats.org/wordprocessingml/2006/main" sz="3200" b="1" ns2:eastAsia="微软雅黑">
                <a:solidFill>
                  <a:srgbClr val="5B63E8"/>
                </a:solidFill>
                <a:latin typeface="微软雅黑"/>
              </a:rPr>
              <a:t>不——这是一个会“唱反调”的 AI 创业委员会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91840"/>
            <a:ext cx="108813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0156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3="http://schemas.openxmlformats.org/wordprocessingml/2006/main" sz="1600" b="1" ns3:eastAsia="微软雅黑">
                <a:solidFill>
                  <a:srgbClr val="1A1A2E"/>
                </a:solidFill>
                <a:latin typeface="微软雅黑"/>
              </a:rPr>
              <a:t>不默认认可你的假设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3456432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4="http://schemas.openxmlformats.org/wordprocessingml/2006/main" sz="1400" b="0" ns4:eastAsia="微软雅黑">
                <a:solidFill>
                  <a:srgbClr val="6B7280"/>
                </a:solidFill>
                <a:latin typeface="微软雅黑"/>
              </a:rPr>
              <a:t>主动寻找它为什么可能失败，而非顺着你扩写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06240"/>
            <a:ext cx="108813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1596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5="http://schemas.openxmlformats.org/wordprocessingml/2006/main" sz="1600" b="1" ns5:eastAsia="微软雅黑">
                <a:solidFill>
                  <a:srgbClr val="1A1A2E"/>
                </a:solidFill>
                <a:latin typeface="微软雅黑"/>
              </a:rPr>
              <a:t>12 位角色分工冲突的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370831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6="http://schemas.openxmlformats.org/wordprocessingml/2006/main" sz="1400" b="0" ns6:eastAsia="微软雅黑">
                <a:solidFill>
                  <a:srgbClr val="6B7280"/>
                </a:solidFill>
                <a:latin typeface="微软雅黑"/>
              </a:rPr>
              <a:t>不是一个模型一口气写完，而是委员会接力审议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120640"/>
            <a:ext cx="108813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30368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7="http://schemas.openxmlformats.org/wordprocessingml/2006/main" sz="1600" b="1" ns7:eastAsia="微软雅黑">
                <a:solidFill>
                  <a:srgbClr val="1A1A2E"/>
                </a:solidFill>
                <a:latin typeface="微软雅黑"/>
              </a:rPr>
              <a:t>输出创业项目诊断报告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5285231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8="http://schemas.openxmlformats.org/wordprocessingml/2006/main" sz="1400" b="0" ns8:eastAsia="微软雅黑">
                <a:solidFill>
                  <a:srgbClr val="6B7280"/>
                </a:solidFill>
                <a:latin typeface="微软雅黑"/>
              </a:rPr>
              <a:t>可追溯的决策链与 12 份报告，而非一篇漂亮文案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9="http://schemas.openxmlformats.org/wordprocessingml/2006/main" sz="1000" b="0" ns9:eastAsia="微软雅黑">
                <a:solidFill>
                  <a:srgbClr val="9CA3AF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10="http://schemas.openxmlformats.org/wordprocessingml/2006/main" sz="1000" b="0" ns10:eastAsia="微软雅黑">
                <a:solidFill>
                  <a:srgbClr val="9CA3AF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1100" b="1" ns0:eastAsia="微软雅黑">
                <a:solidFill>
                  <a:srgbClr val="5B63E8"/>
                </a:solidFill>
                <a:latin typeface="微软雅黑"/>
              </a:rPr>
              <a:t>PAIN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2800" b="1" ns1:eastAsia="微软雅黑">
                <a:solidFill>
                  <a:srgbClr val="1A1A2E"/>
                </a:solidFill>
                <a:latin typeface="微软雅黑"/>
              </a:rPr>
              <a:t>早期创业最缺的不是鼓励，而是敢说“不”的人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5349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349240" cy="91440"/>
          </a:xfrm>
          <a:prstGeom prst="rect">
            <a:avLst/>
          </a:prstGeom>
          <a:solidFill>
            <a:srgbClr val="E85B5B"/>
          </a:solidFill>
          <a:ln w="12700">
            <a:solidFill>
              <a:srgbClr val="E8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="http://schemas.openxmlformats.org/wordprocessingml/2006/main" sz="1700" b="1" ns2:eastAsia="微软雅黑">
                <a:solidFill>
                  <a:srgbClr val="1A1A2E"/>
                </a:solidFill>
                <a:latin typeface="微软雅黑"/>
              </a:rPr>
              <a:t>过度相信自己判断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24912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3="http://schemas.openxmlformats.org/wordprocessingml/2006/main" sz="1300" b="0" ns3:eastAsia="微软雅黑">
                <a:solidFill>
                  <a:srgbClr val="6B7280"/>
                </a:solidFill>
                <a:latin typeface="微软雅黑"/>
              </a:rPr>
              <a:t>需求没验证就开干，把“我觉得”当成“用户需要”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349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49240" cy="91440"/>
          </a:xfrm>
          <a:prstGeom prst="rect">
            <a:avLst/>
          </a:prstGeom>
          <a:solidFill>
            <a:srgbClr val="E85B5B"/>
          </a:solidFill>
          <a:ln w="12700">
            <a:solidFill>
              <a:srgbClr val="E8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7627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4="http://schemas.openxmlformats.org/wordprocessingml/2006/main" sz="1700" b="1" ns4:eastAsia="微软雅黑">
                <a:solidFill>
                  <a:srgbClr val="1A1A2E"/>
                </a:solidFill>
                <a:latin typeface="微软雅黑"/>
              </a:rPr>
              <a:t>忽略真实需求与付费方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24912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5="http://schemas.openxmlformats.org/wordprocessingml/2006/main" sz="1300" b="0" ns5:eastAsia="微软雅黑">
                <a:solidFill>
                  <a:srgbClr val="6B7280"/>
                </a:solidFill>
                <a:latin typeface="微软雅黑"/>
              </a:rPr>
              <a:t>使用者和买单的不是同一个人，付费证据为零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39"/>
            <a:ext cx="5349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749039"/>
            <a:ext cx="5349240" cy="91440"/>
          </a:xfrm>
          <a:prstGeom prst="rect">
            <a:avLst/>
          </a:prstGeom>
          <a:solidFill>
            <a:srgbClr val="E85B5B"/>
          </a:solidFill>
          <a:ln w="12700">
            <a:solidFill>
              <a:srgbClr val="E8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0507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6="http://schemas.openxmlformats.org/wordprocessingml/2006/main" sz="1700" b="1" ns6:eastAsia="微软雅黑">
                <a:solidFill>
                  <a:srgbClr val="1A1A2E"/>
                </a:solidFill>
                <a:latin typeface="微软雅黑"/>
              </a:rPr>
              <a:t>高估市场、忽视竞品与壁垒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53712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7="http://schemas.openxmlformats.org/wordprocessingml/2006/main" sz="1300" b="0" ns7:eastAsia="微软雅黑">
                <a:solidFill>
                  <a:srgbClr val="6B7280"/>
                </a:solidFill>
                <a:latin typeface="微软雅黑"/>
              </a:rPr>
              <a:t>“我们没有竞品”是最危险的信号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49039"/>
            <a:ext cx="5349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49039"/>
            <a:ext cx="5349240" cy="91440"/>
          </a:xfrm>
          <a:prstGeom prst="rect">
            <a:avLst/>
          </a:prstGeom>
          <a:solidFill>
            <a:srgbClr val="E85B5B"/>
          </a:solidFill>
          <a:ln w="12700">
            <a:solidFill>
              <a:srgbClr val="E8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00507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8="http://schemas.openxmlformats.org/wordprocessingml/2006/main" sz="1700" b="1" ns8:eastAsia="微软雅黑">
                <a:solidFill>
                  <a:srgbClr val="1A1A2E"/>
                </a:solidFill>
                <a:latin typeface="微软雅黑"/>
              </a:rPr>
              <a:t>忽视商业模式、财务与增长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553712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9="http://schemas.openxmlformats.org/wordprocessingml/2006/main" sz="1300" b="0" ns9:eastAsia="微软雅黑">
                <a:solidFill>
                  <a:srgbClr val="6B7280"/>
                </a:solidFill>
                <a:latin typeface="微软雅黑"/>
              </a:rPr>
              <a:t>没有冷启动路径，上线即静默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0="http://schemas.openxmlformats.org/wordprocessingml/2006/main" sz="1400" b="1" ns10:eastAsia="微软雅黑">
                <a:solidFill>
                  <a:srgbClr val="E85B5B"/>
                </a:solidFill>
                <a:latin typeface="微软雅黑"/>
              </a:rPr>
              <a:t>传统 AI 往往顺着用户继续完善，而不是主动反驳。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1="http://schemas.openxmlformats.org/wordprocessingml/2006/main" sz="1000" b="0" ns11:eastAsia="微软雅黑">
                <a:solidFill>
                  <a:srgbClr val="9CA3AF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12="http://schemas.openxmlformats.org/wordprocessingml/2006/main" sz="1000" b="0" ns12:eastAsia="微软雅黑">
                <a:solidFill>
                  <a:srgbClr val="9CA3AF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1100" b="1" ns0:eastAsia="微软雅黑">
                <a:solidFill>
                  <a:srgbClr val="5B63E8"/>
                </a:solidFill>
                <a:latin typeface="微软雅黑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2800" b="1" ns1:eastAsia="微软雅黑">
                <a:solidFill>
                  <a:srgbClr val="1A1A2E"/>
                </a:solidFill>
                <a:latin typeface="微软雅黑"/>
              </a:rPr>
              <a:t>从“输入想法”到“拿到诊断报告”的完整闭环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286000"/>
            <a:ext cx="1298448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6344" y="2395728"/>
            <a:ext cx="1188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xmlns:ns2="http://schemas.openxmlformats.org/wordprocessingml/2006/main" sz="1300" b="1" ns2:eastAsia="微软雅黑">
                <a:solidFill>
                  <a:srgbClr val="1A1A2E"/>
                </a:solidFill>
                <a:latin typeface="微软雅黑"/>
              </a:rPr>
              <a:t>输入</a:t>
            </a:r>
          </a:p>
          <a:p>
            <a:pPr algn="ctr">
              <a:spcAft>
                <a:spcPts val="200"/>
              </a:spcAft>
            </a:pPr>
            <a:r>
              <a:rPr xmlns:ns3="http://schemas.openxmlformats.org/wordprocessingml/2006/main" sz="1100" b="0" ns3:eastAsia="微软雅黑">
                <a:solidFill>
                  <a:srgbClr val="6B7280"/>
                </a:solidFill>
                <a:latin typeface="微软雅黑"/>
              </a:rPr>
              <a:t>创业想法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20" y="2286000"/>
            <a:ext cx="1298448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9384" y="2395728"/>
            <a:ext cx="1188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xmlns:ns4="http://schemas.openxmlformats.org/wordprocessingml/2006/main" sz="1300" b="1" ns4:eastAsia="微软雅黑">
                <a:solidFill>
                  <a:srgbClr val="1A1A2E"/>
                </a:solidFill>
                <a:latin typeface="微软雅黑"/>
              </a:rPr>
              <a:t>专家委员会</a:t>
            </a:r>
          </a:p>
          <a:p>
            <a:pPr algn="ctr">
              <a:spcAft>
                <a:spcPts val="200"/>
              </a:spcAft>
            </a:pPr>
            <a:r>
              <a:rPr xmlns:ns5="http://schemas.openxmlformats.org/wordprocessingml/2006/main" sz="1100" b="0" ns5:eastAsia="微软雅黑">
                <a:solidFill>
                  <a:srgbClr val="6B7280"/>
                </a:solidFill>
                <a:latin typeface="微软雅黑"/>
              </a:rPr>
              <a:t>8 官并行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286000"/>
            <a:ext cx="1298448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2424" y="2395728"/>
            <a:ext cx="1188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xmlns:ns6="http://schemas.openxmlformats.org/wordprocessingml/2006/main" sz="1300" b="1" ns6:eastAsia="微软雅黑">
                <a:solidFill>
                  <a:srgbClr val="1A1A2E"/>
                </a:solidFill>
                <a:latin typeface="微软雅黑"/>
              </a:rPr>
              <a:t>红队</a:t>
            </a:r>
          </a:p>
          <a:p>
            <a:pPr algn="ctr">
              <a:spcAft>
                <a:spcPts val="200"/>
              </a:spcAft>
            </a:pPr>
            <a:r>
              <a:rPr xmlns:ns7="http://schemas.openxmlformats.org/wordprocessingml/2006/main" sz="1100" b="0" ns7:eastAsia="微软雅黑">
                <a:solidFill>
                  <a:srgbClr val="6B7280"/>
                </a:solidFill>
                <a:latin typeface="微软雅黑"/>
              </a:rPr>
              <a:t>质疑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286000"/>
            <a:ext cx="1298448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5464" y="2395728"/>
            <a:ext cx="1188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xmlns:ns8="http://schemas.openxmlformats.org/wordprocessingml/2006/main" sz="1300" b="1" ns8:eastAsia="微软雅黑">
                <a:solidFill>
                  <a:srgbClr val="1A1A2E"/>
                </a:solidFill>
                <a:latin typeface="微软雅黑"/>
              </a:rPr>
              <a:t>风险</a:t>
            </a:r>
          </a:p>
          <a:p>
            <a:pPr algn="ctr">
              <a:spcAft>
                <a:spcPts val="200"/>
              </a:spcAft>
            </a:pPr>
            <a:r>
              <a:rPr xmlns:ns9="http://schemas.openxmlformats.org/wordprocessingml/2006/main" sz="1100" b="0" ns9:eastAsia="微软雅黑">
                <a:solidFill>
                  <a:srgbClr val="6B7280"/>
                </a:solidFill>
                <a:latin typeface="微软雅黑"/>
              </a:rPr>
              <a:t>红线把关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286000"/>
            <a:ext cx="1298448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A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2395728"/>
            <a:ext cx="1188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xmlns:ns10="http://schemas.openxmlformats.org/wordprocessingml/2006/main" sz="1300" b="1" ns10:eastAsia="微软雅黑">
                <a:solidFill>
                  <a:srgbClr val="1A1A2E"/>
                </a:solidFill>
                <a:latin typeface="微软雅黑"/>
              </a:rPr>
              <a:t>总指挥</a:t>
            </a:r>
          </a:p>
          <a:p>
            <a:pPr algn="ctr">
              <a:spcAft>
                <a:spcPts val="200"/>
              </a:spcAft>
            </a:pPr>
            <a:r>
              <a:rPr xmlns:ns11="http://schemas.openxmlformats.org/wordprocessingml/2006/main" sz="1100" b="0" ns11:eastAsia="微软雅黑">
                <a:solidFill>
                  <a:srgbClr val="6B7280"/>
                </a:solidFill>
                <a:latin typeface="微软雅黑"/>
              </a:rPr>
              <a:t>阶段结论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286000"/>
            <a:ext cx="1298448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A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1544" y="2395728"/>
            <a:ext cx="1188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xmlns:ns12="http://schemas.openxmlformats.org/wordprocessingml/2006/main" sz="1300" b="1" ns12:eastAsia="微软雅黑">
                <a:solidFill>
                  <a:srgbClr val="1A1A2E"/>
                </a:solidFill>
                <a:latin typeface="微软雅黑"/>
              </a:rPr>
              <a:t>项目评审</a:t>
            </a:r>
          </a:p>
          <a:p>
            <a:pPr algn="ctr">
              <a:spcAft>
                <a:spcPts val="200"/>
              </a:spcAft>
            </a:pPr>
            <a:r>
              <a:rPr xmlns:ns13="http://schemas.openxmlformats.org/wordprocessingml/2006/main" sz="1100" b="0" ns13:eastAsia="微软雅黑">
                <a:solidFill>
                  <a:srgbClr val="6B7280"/>
                </a:solidFill>
                <a:latin typeface="微软雅黑"/>
              </a:rPr>
              <a:t>终审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2286000"/>
            <a:ext cx="1298448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A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44584" y="2395728"/>
            <a:ext cx="1188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xmlns:ns14="http://schemas.openxmlformats.org/wordprocessingml/2006/main" sz="1300" b="1" ns14:eastAsia="微软雅黑">
                <a:solidFill>
                  <a:srgbClr val="1A1A2E"/>
                </a:solidFill>
                <a:latin typeface="微软雅黑"/>
              </a:rPr>
              <a:t>模拟路演</a:t>
            </a:r>
          </a:p>
          <a:p>
            <a:pPr algn="ctr">
              <a:spcAft>
                <a:spcPts val="200"/>
              </a:spcAft>
            </a:pPr>
            <a:r>
              <a:rPr xmlns:ns15="http://schemas.openxmlformats.org/wordprocessingml/2006/main" sz="1100" b="0" ns15:eastAsia="微软雅黑">
                <a:solidFill>
                  <a:srgbClr val="6B7280"/>
                </a:solidFill>
                <a:latin typeface="微软雅黑"/>
              </a:rPr>
              <a:t>答辩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52760" y="2286000"/>
            <a:ext cx="1298448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07624" y="2395728"/>
            <a:ext cx="1188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xmlns:ns16="http://schemas.openxmlformats.org/wordprocessingml/2006/main" sz="1300" b="1" ns16:eastAsia="微软雅黑">
                <a:solidFill>
                  <a:srgbClr val="1A1A2E"/>
                </a:solidFill>
                <a:latin typeface="微软雅黑"/>
              </a:rPr>
              <a:t>创业项目</a:t>
            </a:r>
          </a:p>
          <a:p>
            <a:pPr algn="ctr">
              <a:spcAft>
                <a:spcPts val="200"/>
              </a:spcAft>
            </a:pPr>
            <a:r>
              <a:rPr xmlns:ns17="http://schemas.openxmlformats.org/wordprocessingml/2006/main" sz="1100" b="0" ns17:eastAsia="微软雅黑">
                <a:solidFill>
                  <a:srgbClr val="6B7280"/>
                </a:solidFill>
                <a:latin typeface="微软雅黑"/>
              </a:rPr>
              <a:t>诊断报告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114800"/>
            <a:ext cx="11338560" cy="548640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EE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18795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8="http://schemas.openxmlformats.org/wordprocessingml/2006/main" sz="1300" b="1" ns18:eastAsia="微软雅黑">
                <a:solidFill>
                  <a:srgbClr val="5B63E8"/>
                </a:solidFill>
                <a:latin typeface="微软雅黑"/>
              </a:rPr>
              <a:t>第一层 8 个 Agent 由依赖图自动调度、同时开工；后四层严格等待前置层完成。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9="http://schemas.openxmlformats.org/wordprocessingml/2006/main" sz="1500" b="0" ns19:eastAsia="微软雅黑">
                <a:solidFill>
                  <a:srgbClr val="1A1A2E"/>
                </a:solidFill>
                <a:latin typeface="微软雅黑"/>
              </a:rPr>
              <a:t>用户只做一件事——提交想法；剩下的是委员会自己跑完。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0="http://schemas.openxmlformats.org/wordprocessingml/2006/main" sz="1000" b="0" ns20:eastAsia="微软雅黑">
                <a:solidFill>
                  <a:srgbClr val="9CA3AF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21="http://schemas.openxmlformats.org/wordprocessingml/2006/main" sz="1000" b="0" ns21:eastAsia="微软雅黑">
                <a:solidFill>
                  <a:srgbClr val="9CA3AF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1100" b="1" ns0:eastAsia="微软雅黑">
                <a:solidFill>
                  <a:srgbClr val="5B63E8"/>
                </a:solidFill>
                <a:latin typeface="微软雅黑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2800" b="1" ns1:eastAsia="微软雅黑">
                <a:solidFill>
                  <a:srgbClr val="1A1A2E"/>
                </a:solidFill>
                <a:latin typeface="微软雅黑"/>
              </a:rPr>
              <a:t>12 个 Agent，三个委员会，角色冲突被刻意设计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61188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611880" cy="45720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="http://schemas.openxmlformats.org/wordprocessingml/2006/main" sz="1300" b="1" ns2:eastAsia="微软雅黑">
                <a:solidFill>
                  <a:srgbClr val="4F7DFF"/>
                </a:solidFill>
                <a:latin typeface="微软雅黑"/>
              </a:rPr>
              <a:t>专家委员会 · 8 官并行尽调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3200400" cy="4005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xmlns:ns3="http://schemas.openxmlformats.org/wordprocessingml/2006/main" sz="1300" b="0" ns3:eastAsia="微软雅黑">
                <a:solidFill>
                  <a:srgbClr val="1A1A2E"/>
                </a:solidFill>
                <a:latin typeface="微软雅黑"/>
              </a:rPr>
              <a:t>• 用户洞察官</a:t>
            </a:r>
          </a:p>
          <a:p>
            <a:pPr algn="l">
              <a:spcAft>
                <a:spcPts val="700"/>
              </a:spcAft>
            </a:pPr>
            <a:r>
              <a:rPr xmlns:ns4="http://schemas.openxmlformats.org/wordprocessingml/2006/main" sz="1300" b="0" ns4:eastAsia="微软雅黑">
                <a:solidFill>
                  <a:srgbClr val="1A1A2E"/>
                </a:solidFill>
                <a:latin typeface="微软雅黑"/>
              </a:rPr>
              <a:t>• 市场分析官</a:t>
            </a:r>
          </a:p>
          <a:p>
            <a:pPr algn="l">
              <a:spcAft>
                <a:spcPts val="700"/>
              </a:spcAft>
            </a:pPr>
            <a:r>
              <a:rPr xmlns:ns5="http://schemas.openxmlformats.org/wordprocessingml/2006/main" sz="1300" b="0" ns5:eastAsia="微软雅黑">
                <a:solidFill>
                  <a:srgbClr val="1A1A2E"/>
                </a:solidFill>
                <a:latin typeface="微软雅黑"/>
              </a:rPr>
              <a:t>• 竞品分析官</a:t>
            </a:r>
          </a:p>
          <a:p>
            <a:pPr algn="l">
              <a:spcAft>
                <a:spcPts val="700"/>
              </a:spcAft>
            </a:pPr>
            <a:r>
              <a:rPr xmlns:ns6="http://schemas.openxmlformats.org/wordprocessingml/2006/main" sz="1300" b="0" ns6:eastAsia="微软雅黑">
                <a:solidFill>
                  <a:srgbClr val="1A1A2E"/>
                </a:solidFill>
                <a:latin typeface="微软雅黑"/>
              </a:rPr>
              <a:t>• 产品设计官</a:t>
            </a:r>
          </a:p>
          <a:p>
            <a:pPr algn="l">
              <a:spcAft>
                <a:spcPts val="700"/>
              </a:spcAft>
            </a:pPr>
            <a:r>
              <a:rPr xmlns:ns7="http://schemas.openxmlformats.org/wordprocessingml/2006/main" sz="1300" b="0" ns7:eastAsia="微软雅黑">
                <a:solidFill>
                  <a:srgbClr val="1A1A2E"/>
                </a:solidFill>
                <a:latin typeface="微软雅黑"/>
              </a:rPr>
              <a:t>• 商业模式官</a:t>
            </a:r>
          </a:p>
          <a:p>
            <a:pPr algn="l">
              <a:spcAft>
                <a:spcPts val="700"/>
              </a:spcAft>
            </a:pPr>
            <a:r>
              <a:rPr xmlns:ns8="http://schemas.openxmlformats.org/wordprocessingml/2006/main" sz="1300" b="0" ns8:eastAsia="微软雅黑">
                <a:solidFill>
                  <a:srgbClr val="1A1A2E"/>
                </a:solidFill>
                <a:latin typeface="微软雅黑"/>
              </a:rPr>
              <a:t>• 财务分析官</a:t>
            </a:r>
          </a:p>
          <a:p>
            <a:pPr algn="l">
              <a:spcAft>
                <a:spcPts val="700"/>
              </a:spcAft>
            </a:pPr>
            <a:r>
              <a:rPr xmlns:ns9="http://schemas.openxmlformats.org/wordprocessingml/2006/main" sz="1300" b="0" ns9:eastAsia="微软雅黑">
                <a:solidFill>
                  <a:srgbClr val="1A1A2E"/>
                </a:solidFill>
                <a:latin typeface="微软雅黑"/>
              </a:rPr>
              <a:t>• 增长运营官</a:t>
            </a:r>
          </a:p>
          <a:p>
            <a:pPr algn="l">
              <a:spcAft>
                <a:spcPts val="700"/>
              </a:spcAft>
            </a:pPr>
            <a:r>
              <a:rPr xmlns:ns10="http://schemas.openxmlformats.org/wordprocessingml/2006/main" sz="1300" b="0" ns10:eastAsia="微软雅黑">
                <a:solidFill>
                  <a:srgbClr val="1A1A2E"/>
                </a:solidFill>
                <a:latin typeface="微软雅黑"/>
              </a:rPr>
              <a:t>• 风险审查官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828800"/>
            <a:ext cx="36118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2272" y="1828800"/>
            <a:ext cx="3611880" cy="457200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9019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1="http://schemas.openxmlformats.org/wordprocessingml/2006/main" sz="1300" b="1" ns11:eastAsia="微软雅黑">
                <a:solidFill>
                  <a:srgbClr val="E85B5B"/>
                </a:solidFill>
                <a:latin typeface="微软雅黑"/>
              </a:rPr>
              <a:t>对抗委员会 · 只攻击不安慰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468880"/>
            <a:ext cx="3200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xmlns:ns12="http://schemas.openxmlformats.org/wordprocessingml/2006/main" sz="1300" b="0" ns12:eastAsia="微软雅黑">
                <a:solidFill>
                  <a:srgbClr val="1A1A2E"/>
                </a:solidFill>
                <a:latin typeface="微软雅黑"/>
              </a:rPr>
              <a:t>• 红队质疑官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4463" y="1828800"/>
            <a:ext cx="36118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84463" y="1828800"/>
            <a:ext cx="3611880" cy="457200"/>
          </a:xfrm>
          <a:prstGeom prst="rect">
            <a:avLst/>
          </a:prstGeom>
          <a:solidFill>
            <a:srgbClr val="F2EEFB"/>
          </a:solidFill>
          <a:ln w="12700">
            <a:solidFill>
              <a:srgbClr val="F2E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3063" y="19019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3="http://schemas.openxmlformats.org/wordprocessingml/2006/main" sz="1300" b="1" ns13:eastAsia="微软雅黑">
                <a:solidFill>
                  <a:srgbClr val="7A65D8"/>
                </a:solidFill>
                <a:latin typeface="微软雅黑"/>
              </a:rPr>
              <a:t>决策委员会 · 分权裁决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3063" y="2468880"/>
            <a:ext cx="3200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xmlns:ns14="http://schemas.openxmlformats.org/wordprocessingml/2006/main" sz="1300" b="0" ns14:eastAsia="微软雅黑">
                <a:solidFill>
                  <a:srgbClr val="1A1A2E"/>
                </a:solidFill>
                <a:latin typeface="微软雅黑"/>
              </a:rPr>
              <a:t>• 创业总指挥</a:t>
            </a:r>
          </a:p>
          <a:p>
            <a:pPr algn="l">
              <a:spcAft>
                <a:spcPts val="700"/>
              </a:spcAft>
            </a:pPr>
            <a:r>
              <a:rPr xmlns:ns15="http://schemas.openxmlformats.org/wordprocessingml/2006/main" sz="1300" b="0" ns15:eastAsia="微软雅黑">
                <a:solidFill>
                  <a:srgbClr val="1A1A2E"/>
                </a:solidFill>
                <a:latin typeface="微软雅黑"/>
              </a:rPr>
              <a:t>• 项目评审官</a:t>
            </a:r>
          </a:p>
          <a:p>
            <a:pPr algn="l">
              <a:spcAft>
                <a:spcPts val="700"/>
              </a:spcAft>
            </a:pPr>
            <a:r>
              <a:rPr xmlns:ns16="http://schemas.openxmlformats.org/wordprocessingml/2006/main" sz="1300" b="0" ns16:eastAsia="微软雅黑">
                <a:solidFill>
                  <a:srgbClr val="1A1A2E"/>
                </a:solidFill>
                <a:latin typeface="微软雅黑"/>
              </a:rPr>
              <a:t>• 路演答辩官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7="http://schemas.openxmlformats.org/wordprocessingml/2006/main" sz="1400" b="0" ns17:eastAsia="微软雅黑">
                <a:solidFill>
                  <a:srgbClr val="6B7280"/>
                </a:solidFill>
                <a:latin typeface="微软雅黑"/>
              </a:rPr>
              <a:t>专家分析 · 红队攻击 · 风险否决 · 指挥官与评审官分权——一个系统里必须有人唱反调。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8="http://schemas.openxmlformats.org/wordprocessingml/2006/main" sz="1000" b="0" ns18:eastAsia="微软雅黑">
                <a:solidFill>
                  <a:srgbClr val="9CA3AF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19="http://schemas.openxmlformats.org/wordprocessingml/2006/main" sz="1000" b="0" ns19:eastAsia="微软雅黑">
                <a:solidFill>
                  <a:srgbClr val="9CA3AF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1100" b="1" ns0:eastAsia="微软雅黑">
                <a:solidFill>
                  <a:srgbClr val="5B63E8"/>
                </a:solidFill>
                <a:latin typeface="微软雅黑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2800" b="1" ns1:eastAsia="微软雅黑">
                <a:solidFill>
                  <a:srgbClr val="1A1A2E"/>
                </a:solidFill>
                <a:latin typeface="微软雅黑"/>
              </a:rPr>
              <a:t>不是写死顺序，而是依赖图驱动的 5 层执行 DAG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109728" cy="713232"/>
          </a:xfrm>
          <a:prstGeom prst="rect">
            <a:avLst/>
          </a:prstGeom>
          <a:solidFill>
            <a:srgbClr val="4F7DFF"/>
          </a:solidFill>
          <a:ln w="12700">
            <a:solidFill>
              <a:srgbClr val="4F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="http://schemas.openxmlformats.org/wordprocessingml/2006/main" sz="1400" b="1" ns2:eastAsia="微软雅黑">
                <a:solidFill>
                  <a:srgbClr val="4F7DFF"/>
                </a:solidFill>
                <a:latin typeface="微软雅黑"/>
              </a:rPr>
              <a:t>L0 专家层（8 并行）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020824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3="http://schemas.openxmlformats.org/wordprocessingml/2006/main" sz="1300" b="0" ns3:eastAsia="微软雅黑">
                <a:solidFill>
                  <a:srgbClr val="6B7280"/>
                </a:solidFill>
                <a:latin typeface="微软雅黑"/>
              </a:rPr>
              <a:t>用户 · 市场 · 竞品 · 产品 · 商业模式 · 财务 · 增长 · 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551176"/>
            <a:ext cx="91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4="http://schemas.openxmlformats.org/wordprocessingml/2006/main" sz="900" b="1" ns4:eastAsia="微软雅黑">
                <a:solidFill>
                  <a:srgbClr val="4F7DFF"/>
                </a:solidFill>
                <a:latin typeface="微软雅黑"/>
              </a:rP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15768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715768"/>
            <a:ext cx="109728" cy="713232"/>
          </a:xfrm>
          <a:prstGeom prst="rect">
            <a:avLst/>
          </a:prstGeom>
          <a:solidFill>
            <a:srgbClr val="E85B5B"/>
          </a:solidFill>
          <a:ln w="12700">
            <a:solidFill>
              <a:srgbClr val="E8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07208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5="http://schemas.openxmlformats.org/wordprocessingml/2006/main" sz="1400" b="1" ns5:eastAsia="微软雅黑">
                <a:solidFill>
                  <a:srgbClr val="E85B5B"/>
                </a:solidFill>
                <a:latin typeface="微软雅黑"/>
              </a:rPr>
              <a:t>L1 红队层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862072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6="http://schemas.openxmlformats.org/wordprocessingml/2006/main" sz="1300" b="0" ns6:eastAsia="微软雅黑">
                <a:solidFill>
                  <a:srgbClr val="6B7280"/>
                </a:solidFill>
                <a:latin typeface="微软雅黑"/>
              </a:rPr>
              <a:t>红队质疑官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392424"/>
            <a:ext cx="91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7="http://schemas.openxmlformats.org/wordprocessingml/2006/main" sz="900" b="1" ns7:eastAsia="微软雅黑">
                <a:solidFill>
                  <a:srgbClr val="E85B5B"/>
                </a:solidFill>
                <a:latin typeface="微软雅黑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57015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57015"/>
            <a:ext cx="109728" cy="713232"/>
          </a:xfrm>
          <a:prstGeom prst="rect">
            <a:avLst/>
          </a:prstGeom>
          <a:solidFill>
            <a:srgbClr val="7A65D8"/>
          </a:solidFill>
          <a:ln w="12700">
            <a:solidFill>
              <a:srgbClr val="7A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48456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8="http://schemas.openxmlformats.org/wordprocessingml/2006/main" sz="1400" b="1" ns8:eastAsia="微软雅黑">
                <a:solidFill>
                  <a:srgbClr val="7A65D8"/>
                </a:solidFill>
                <a:latin typeface="微软雅黑"/>
              </a:rPr>
              <a:t>L2 总指挥层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7033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9="http://schemas.openxmlformats.org/wordprocessingml/2006/main" sz="1300" b="0" ns9:eastAsia="微软雅黑">
                <a:solidFill>
                  <a:srgbClr val="6B7280"/>
                </a:solidFill>
                <a:latin typeface="微软雅黑"/>
              </a:rPr>
              <a:t>创业总指挥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4233672"/>
            <a:ext cx="91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0="http://schemas.openxmlformats.org/wordprocessingml/2006/main" sz="900" b="1" ns10:eastAsia="微软雅黑">
                <a:solidFill>
                  <a:srgbClr val="7A65D8"/>
                </a:solidFill>
                <a:latin typeface="微软雅黑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98264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398264"/>
            <a:ext cx="109728" cy="713232"/>
          </a:xfrm>
          <a:prstGeom prst="rect">
            <a:avLst/>
          </a:prstGeom>
          <a:solidFill>
            <a:srgbClr val="7A65D8"/>
          </a:solidFill>
          <a:ln w="12700">
            <a:solidFill>
              <a:srgbClr val="7A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89704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1="http://schemas.openxmlformats.org/wordprocessingml/2006/main" sz="1400" b="1" ns11:eastAsia="微软雅黑">
                <a:solidFill>
                  <a:srgbClr val="7A65D8"/>
                </a:solidFill>
                <a:latin typeface="微软雅黑"/>
              </a:rPr>
              <a:t>L3 评审层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544568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2="http://schemas.openxmlformats.org/wordprocessingml/2006/main" sz="1300" b="0" ns12:eastAsia="微软雅黑">
                <a:solidFill>
                  <a:srgbClr val="6B7280"/>
                </a:solidFill>
                <a:latin typeface="微软雅黑"/>
              </a:rPr>
              <a:t>项目评审官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5074920"/>
            <a:ext cx="91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3="http://schemas.openxmlformats.org/wordprocessingml/2006/main" sz="900" b="1" ns13:eastAsia="微软雅黑">
                <a:solidFill>
                  <a:srgbClr val="7A65D8"/>
                </a:solidFill>
                <a:latin typeface="微软雅黑"/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39512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239512"/>
            <a:ext cx="109728" cy="713232"/>
          </a:xfrm>
          <a:prstGeom prst="rect">
            <a:avLst/>
          </a:prstGeom>
          <a:solidFill>
            <a:srgbClr val="7A65D8"/>
          </a:solidFill>
          <a:ln w="12700">
            <a:solidFill>
              <a:srgbClr val="7A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3095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4="http://schemas.openxmlformats.org/wordprocessingml/2006/main" sz="1400" b="1" ns14:eastAsia="微软雅黑">
                <a:solidFill>
                  <a:srgbClr val="7A65D8"/>
                </a:solidFill>
                <a:latin typeface="微软雅黑"/>
              </a:rPr>
              <a:t>L4 路演层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385816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5="http://schemas.openxmlformats.org/wordprocessingml/2006/main" sz="1300" b="0" ns15:eastAsia="微软雅黑">
                <a:solidFill>
                  <a:srgbClr val="6B7280"/>
                </a:solidFill>
                <a:latin typeface="微软雅黑"/>
              </a:rPr>
              <a:t>路演答辩官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6="http://schemas.openxmlformats.org/wordprocessingml/2006/main" sz="1300" b="0" ns16:eastAsia="微软雅黑">
                <a:solidFill>
                  <a:srgbClr val="6B7280"/>
                </a:solidFill>
                <a:latin typeface="微软雅黑"/>
              </a:rPr>
              <a:t>执行器根据依赖关系自动识别“当前谁可以跑”；硬依赖失败则下游阻断，软依赖缺失则降级。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7="http://schemas.openxmlformats.org/wordprocessingml/2006/main" sz="1000" b="0" ns17:eastAsia="微软雅黑">
                <a:solidFill>
                  <a:srgbClr val="9CA3AF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18="http://schemas.openxmlformats.org/wordprocessingml/2006/main" sz="1000" b="0" ns18:eastAsia="微软雅黑">
                <a:solidFill>
                  <a:srgbClr val="9CA3AF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1100" b="1" ns0:eastAsia="微软雅黑">
                <a:solidFill>
                  <a:srgbClr val="E85B5B"/>
                </a:solidFill>
                <a:latin typeface="微软雅黑"/>
              </a:rPr>
              <a:t>RED TEAM · 核心卖点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2800" b="1" ns1:eastAsia="微软雅黑">
                <a:solidFill>
                  <a:srgbClr val="1A1A2E"/>
                </a:solidFill>
                <a:latin typeface="微软雅黑"/>
              </a:rPr>
              <a:t>系统不是只证明想法成立，而是主动寻找它为什么可能失败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822960" cy="329184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6537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2="http://schemas.openxmlformats.org/wordprocessingml/2006/main" sz="1100" b="1" ns2:eastAsia="微软雅黑">
                <a:solidFill>
                  <a:srgbClr val="E85B5B"/>
                </a:solidFill>
                <a:latin typeface="微软雅黑"/>
              </a:rPr>
              <a:t>需求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1828800"/>
            <a:ext cx="822960" cy="329184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86537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3="http://schemas.openxmlformats.org/wordprocessingml/2006/main" sz="1100" b="1" ns3:eastAsia="微软雅黑">
                <a:solidFill>
                  <a:srgbClr val="E85B5B"/>
                </a:solidFill>
                <a:latin typeface="微软雅黑"/>
              </a:rPr>
              <a:t>付费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828800"/>
            <a:ext cx="822960" cy="329184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86537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4="http://schemas.openxmlformats.org/wordprocessingml/2006/main" sz="1100" b="1" ns4:eastAsia="微软雅黑">
                <a:solidFill>
                  <a:srgbClr val="E85B5B"/>
                </a:solidFill>
                <a:latin typeface="微软雅黑"/>
              </a:rPr>
              <a:t>竞争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828800"/>
            <a:ext cx="822960" cy="329184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86537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5="http://schemas.openxmlformats.org/wordprocessingml/2006/main" sz="1100" b="1" ns5:eastAsia="微软雅黑">
                <a:solidFill>
                  <a:srgbClr val="E85B5B"/>
                </a:solidFill>
                <a:latin typeface="微软雅黑"/>
              </a:rPr>
              <a:t>增长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822960" cy="329184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6537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6="http://schemas.openxmlformats.org/wordprocessingml/2006/main" sz="1100" b="1" ns6:eastAsia="微软雅黑">
                <a:solidFill>
                  <a:srgbClr val="E85B5B"/>
                </a:solidFill>
                <a:latin typeface="微软雅黑"/>
              </a:rPr>
              <a:t>壁垒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77440"/>
            <a:ext cx="534924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377440"/>
            <a:ext cx="5349240" cy="457200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45059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7="http://schemas.openxmlformats.org/wordprocessingml/2006/main" sz="1400" b="1" ns7:eastAsia="微软雅黑">
                <a:solidFill>
                  <a:srgbClr val="E85B5B"/>
                </a:solidFill>
                <a:latin typeface="微软雅黑"/>
              </a:rPr>
              <a:t>【付费假设｜致命】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17520"/>
            <a:ext cx="48920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8="http://schemas.openxmlformats.org/wordprocessingml/2006/main" sz="1500" b="0" ns8:eastAsia="微软雅黑">
                <a:solidFill>
                  <a:srgbClr val="1A1A2E"/>
                </a:solidFill>
                <a:latin typeface="微软雅黑"/>
              </a:rPr>
              <a:t>“口头兴趣 ≠ 采购意愿——预算权、审批流程、立项记录全部为零。”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377440"/>
            <a:ext cx="534924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377440"/>
            <a:ext cx="5349240" cy="457200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45059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9="http://schemas.openxmlformats.org/wordprocessingml/2006/main" sz="1400" b="1" ns9:eastAsia="微软雅黑">
                <a:solidFill>
                  <a:srgbClr val="E85B5B"/>
                </a:solidFill>
                <a:latin typeface="微软雅黑"/>
              </a:rPr>
              <a:t>【增长假设｜致命】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17520"/>
            <a:ext cx="48920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0="http://schemas.openxmlformats.org/wordprocessingml/2006/main" sz="1500" b="0" ns10:eastAsia="微软雅黑">
                <a:solidFill>
                  <a:srgbClr val="1A1A2E"/>
                </a:solidFill>
                <a:latin typeface="微软雅黑"/>
              </a:rPr>
              <a:t>“没有冷启动路径，上线即静默；增长目标缺渠道×流量×转化率推导链。”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1="http://schemas.openxmlformats.org/wordprocessingml/2006/main" sz="1300" b="0" ns11:eastAsia="微软雅黑">
                <a:solidFill>
                  <a:srgbClr val="6B7280"/>
                </a:solidFill>
                <a:latin typeface="微软雅黑"/>
              </a:rPr>
              <a:t>五维攻击逐维引用项目原文，并给出“待验证证据”——这不是模板话术，是针对该项目生成的攻击。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2="http://schemas.openxmlformats.org/wordprocessingml/2006/main" sz="1000" b="0" ns12:eastAsia="微软雅黑">
                <a:solidFill>
                  <a:srgbClr val="9CA3AF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13="http://schemas.openxmlformats.org/wordprocessingml/2006/main" sz="1000" b="0" ns13:eastAsia="微软雅黑">
                <a:solidFill>
                  <a:srgbClr val="9CA3AF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1100" b="1" ns0:eastAsia="微软雅黑">
                <a:solidFill>
                  <a:srgbClr val="5B63E8"/>
                </a:solidFill>
                <a:latin typeface="微软雅黑"/>
              </a:rPr>
              <a:t>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2800" b="1" ns1:eastAsia="微软雅黑">
                <a:solidFill>
                  <a:srgbClr val="1A1A2E"/>
                </a:solidFill>
                <a:latin typeface="微软雅黑"/>
              </a:rPr>
              <a:t>把多 Agent 系统做成可运行、可恢复、可验证的工程系统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606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084832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="http://schemas.openxmlformats.org/wordprocessingml/2006/main" sz="1500" b="1" ns2:eastAsia="微软雅黑">
                <a:solidFill>
                  <a:srgbClr val="5B63E8"/>
                </a:solidFill>
                <a:latin typeface="微软雅黑"/>
              </a:rPr>
              <a:t>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57860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3="http://schemas.openxmlformats.org/wordprocessingml/2006/main" sz="1200" b="0" ns3:eastAsia="微软雅黑">
                <a:solidFill>
                  <a:srgbClr val="6B7280"/>
                </a:solidFill>
                <a:latin typeface="微软雅黑"/>
              </a:rPr>
              <a:t>管理 Agent 能力与依赖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18687" y="2423160"/>
            <a:ext cx="182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4="http://schemas.openxmlformats.org/wordprocessingml/2006/main" sz="1600" b="1" ns4:eastAsia="微软雅黑">
                <a:solidFill>
                  <a:srgbClr val="5B63E8"/>
                </a:solidFill>
                <a:latin typeface="微软雅黑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920240"/>
            <a:ext cx="2606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084832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5="http://schemas.openxmlformats.org/wordprocessingml/2006/main" sz="1500" b="1" ns5:eastAsia="微软雅黑">
                <a:solidFill>
                  <a:srgbClr val="5B63E8"/>
                </a:solidFill>
                <a:latin typeface="微软雅黑"/>
              </a:rPr>
              <a:t>DAG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57860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6="http://schemas.openxmlformats.org/wordprocessingml/2006/main" sz="1200" b="0" ns6:eastAsia="微软雅黑">
                <a:solidFill>
                  <a:srgbClr val="6B7280"/>
                </a:solidFill>
                <a:latin typeface="微软雅黑"/>
              </a:rPr>
              <a:t>编排执行顺序，自动并行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423160"/>
            <a:ext cx="182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7="http://schemas.openxmlformats.org/wordprocessingml/2006/main" sz="1600" b="1" ns7:eastAsia="微软雅黑">
                <a:solidFill>
                  <a:srgbClr val="5B63E8"/>
                </a:solidFill>
                <a:latin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920240"/>
            <a:ext cx="2606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084832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8="http://schemas.openxmlformats.org/wordprocessingml/2006/main" sz="1500" b="1" ns8:eastAsia="微软雅黑">
                <a:solidFill>
                  <a:srgbClr val="5B63E8"/>
                </a:solidFill>
                <a:latin typeface="微软雅黑"/>
              </a:rPr>
              <a:t>Orchestrator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57860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9="http://schemas.openxmlformats.org/wordprocessingml/2006/main" sz="1200" b="0" ns9:eastAsia="微软雅黑">
                <a:solidFill>
                  <a:srgbClr val="6B7280"/>
                </a:solidFill>
                <a:latin typeface="微软雅黑"/>
              </a:rPr>
              <a:t>按图调度执行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423160"/>
            <a:ext cx="182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0="http://schemas.openxmlformats.org/wordprocessingml/2006/main" sz="1600" b="1" ns10:eastAsia="微软雅黑">
                <a:solidFill>
                  <a:srgbClr val="5B63E8"/>
                </a:solidFill>
                <a:latin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1920240"/>
            <a:ext cx="2606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72015" y="2084832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1="http://schemas.openxmlformats.org/wordprocessingml/2006/main" sz="1500" b="1" ns11:eastAsia="微软雅黑">
                <a:solidFill>
                  <a:srgbClr val="5B63E8"/>
                </a:solidFill>
                <a:latin typeface="微软雅黑"/>
              </a:rPr>
              <a:t>Validator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5" y="257860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2="http://schemas.openxmlformats.org/wordprocessingml/2006/main" sz="1200" b="0" ns12:eastAsia="微软雅黑">
                <a:solidFill>
                  <a:srgbClr val="6B7280"/>
                </a:solidFill>
                <a:latin typeface="微软雅黑"/>
              </a:rPr>
              <a:t>输出结构化校验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57600"/>
            <a:ext cx="2606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822191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3="http://schemas.openxmlformats.org/wordprocessingml/2006/main" sz="1500" b="1" ns13:eastAsia="微软雅黑">
                <a:solidFill>
                  <a:srgbClr val="5B63E8"/>
                </a:solidFill>
                <a:latin typeface="微软雅黑"/>
              </a:rPr>
              <a:t>Critic/Repair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31596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4="http://schemas.openxmlformats.org/wordprocessingml/2006/main" sz="1200" b="0" ns14:eastAsia="微软雅黑">
                <a:solidFill>
                  <a:srgbClr val="6B7280"/>
                </a:solidFill>
                <a:latin typeface="微软雅黑"/>
              </a:rPr>
              <a:t>问题输出返工留证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18687" y="4160520"/>
            <a:ext cx="182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5="http://schemas.openxmlformats.org/wordprocessingml/2006/main" sz="1600" b="1" ns15:eastAsia="微软雅黑">
                <a:solidFill>
                  <a:srgbClr val="5B63E8"/>
                </a:solidFill>
                <a:latin typeface="微软雅黑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6432" y="3657600"/>
            <a:ext cx="2606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9312" y="3822191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6="http://schemas.openxmlformats.org/wordprocessingml/2006/main" sz="1500" b="1" ns16:eastAsia="微软雅黑">
                <a:solidFill>
                  <a:srgbClr val="5B63E8"/>
                </a:solidFill>
                <a:latin typeface="微软雅黑"/>
              </a:rPr>
              <a:t>RunStore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431596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7="http://schemas.openxmlformats.org/wordprocessingml/2006/main" sz="1200" b="0" ns17:eastAsia="微软雅黑">
                <a:solidFill>
                  <a:srgbClr val="6B7280"/>
                </a:solidFill>
                <a:latin typeface="微软雅黑"/>
              </a:rPr>
              <a:t>保存运行状态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160520"/>
            <a:ext cx="182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8="http://schemas.openxmlformats.org/wordprocessingml/2006/main" sz="1600" b="1" ns18:eastAsia="微软雅黑">
                <a:solidFill>
                  <a:srgbClr val="5B63E8"/>
                </a:solidFill>
                <a:latin typeface="微软雅黑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657600"/>
            <a:ext cx="2606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5664" y="3822191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9="http://schemas.openxmlformats.org/wordprocessingml/2006/main" sz="1500" b="1" ns19:eastAsia="微软雅黑">
                <a:solidFill>
                  <a:srgbClr val="5B63E8"/>
                </a:solidFill>
                <a:latin typeface="微软雅黑"/>
              </a:rPr>
              <a:t>Resume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431596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0="http://schemas.openxmlformats.org/wordprocessingml/2006/main" sz="1200" b="0" ns20:eastAsia="微软雅黑">
                <a:solidFill>
                  <a:srgbClr val="6B7280"/>
                </a:solidFill>
                <a:latin typeface="微软雅黑"/>
              </a:rPr>
              <a:t>断点恢复不重跑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1392" y="4160520"/>
            <a:ext cx="182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21="http://schemas.openxmlformats.org/wordprocessingml/2006/main" sz="1600" b="1" ns21:eastAsia="微软雅黑">
                <a:solidFill>
                  <a:srgbClr val="5B63E8"/>
                </a:solidFill>
                <a:latin typeface="微软雅黑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89136" y="3657600"/>
            <a:ext cx="2606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72015" y="3822191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2="http://schemas.openxmlformats.org/wordprocessingml/2006/main" sz="1500" b="1" ns22:eastAsia="微软雅黑">
                <a:solidFill>
                  <a:srgbClr val="5B63E8"/>
                </a:solidFill>
                <a:latin typeface="微软雅黑"/>
              </a:rPr>
              <a:t>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2015" y="431596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3="http://schemas.openxmlformats.org/wordprocessingml/2006/main" sz="1200" b="0" ns23:eastAsia="微软雅黑">
                <a:solidFill>
                  <a:srgbClr val="6B7280"/>
                </a:solidFill>
                <a:latin typeface="微软雅黑"/>
              </a:rPr>
              <a:t>汇总 12 份报告终审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4="http://schemas.openxmlformats.org/wordprocessingml/2006/main" sz="1600" b="1" ns24:eastAsia="微软雅黑">
                <a:solidFill>
                  <a:srgbClr val="5B63E8"/>
                </a:solidFill>
                <a:latin typeface="微软雅黑"/>
              </a:rPr>
              <a:t>工程观：LLM 是不受信任的执行者，程序负责最终约束。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5="http://schemas.openxmlformats.org/wordprocessingml/2006/main" sz="1000" b="0" ns25:eastAsia="微软雅黑">
                <a:solidFill>
                  <a:srgbClr val="9CA3AF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26="http://schemas.openxmlformats.org/wordprocessingml/2006/main" sz="1000" b="0" ns26:eastAsia="微软雅黑">
                <a:solidFill>
                  <a:srgbClr val="9CA3AF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1100" b="1" ns0:eastAsia="微软雅黑">
                <a:solidFill>
                  <a:srgbClr val="5B63E8"/>
                </a:solidFill>
                <a:latin typeface="微软雅黑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2800" b="1" ns1:eastAsia="微软雅黑">
                <a:solidFill>
                  <a:srgbClr val="1A1A2E"/>
                </a:solidFill>
                <a:latin typeface="微软雅黑"/>
              </a:rPr>
              <a:t>只展示有证据的数字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103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2="http://schemas.openxmlformats.org/wordprocessingml/2006/main" sz="3600" b="1" ns2:eastAsia="微软雅黑">
                <a:solidFill>
                  <a:srgbClr val="4F7D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3="http://schemas.openxmlformats.org/wordprocessingml/2006/main" sz="1300" b="1" ns3:eastAsia="微软雅黑">
                <a:solidFill>
                  <a:srgbClr val="1A1A2E"/>
                </a:solidFill>
                <a:latin typeface="微软雅黑"/>
              </a:rP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383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4="http://schemas.openxmlformats.org/wordprocessingml/2006/main" sz="1100" b="0" ns4:eastAsia="微软雅黑">
                <a:solidFill>
                  <a:srgbClr val="6B7280"/>
                </a:solidFill>
                <a:latin typeface="微软雅黑"/>
              </a:rPr>
              <a:t>8 专家 + 1 红队 + 3 决策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920240"/>
            <a:ext cx="2103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1" y="210312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5="http://schemas.openxmlformats.org/wordprocessingml/2006/main" sz="3600" b="1" ns5:eastAsia="微软雅黑">
                <a:solidFill>
                  <a:srgbClr val="5B63E8"/>
                </a:solidFill>
                <a:latin typeface="微软雅黑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1" y="29718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6="http://schemas.openxmlformats.org/wordprocessingml/2006/main" sz="1300" b="1" ns6:eastAsia="微软雅黑">
                <a:solidFill>
                  <a:srgbClr val="1A1A2E"/>
                </a:solidFill>
                <a:latin typeface="微软雅黑"/>
              </a:rPr>
              <a:t>份知识文档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3383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7="http://schemas.openxmlformats.org/wordprocessingml/2006/main" sz="1100" b="0" ns7:eastAsia="微软雅黑">
                <a:solidFill>
                  <a:srgbClr val="6B7280"/>
                </a:solidFill>
                <a:latin typeface="微软雅黑"/>
              </a:rPr>
              <a:t>支撑 12 Agent 专业判断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1920240"/>
            <a:ext cx="2103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5504" y="210312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8="http://schemas.openxmlformats.org/wordprocessingml/2006/main" sz="3600" b="1" ns8:eastAsia="微软雅黑">
                <a:solidFill>
                  <a:srgbClr val="7A65D8"/>
                </a:solidFill>
                <a:latin typeface="微软雅黑"/>
              </a:rPr>
              <a:t>120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29718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9="http://schemas.openxmlformats.org/wordprocessingml/2006/main" sz="1300" b="1" ns9:eastAsia="微软雅黑">
                <a:solidFill>
                  <a:srgbClr val="1A1A2E"/>
                </a:solidFill>
                <a:latin typeface="微软雅黑"/>
              </a:rPr>
              <a:t>条 QA 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3383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0="http://schemas.openxmlformats.org/wordprocessingml/2006/main" sz="1100" b="0" ns10:eastAsia="微软雅黑">
                <a:solidFill>
                  <a:srgbClr val="6B7280"/>
                </a:solidFill>
                <a:latin typeface="微软雅黑"/>
              </a:rPr>
              <a:t>离线断言全绿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43215" y="1920240"/>
            <a:ext cx="2103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10312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1="http://schemas.openxmlformats.org/wordprocessingml/2006/main" sz="3600" b="1" ns11:eastAsia="微软雅黑">
                <a:solidFill>
                  <a:srgbClr val="5B63E8"/>
                </a:solidFill>
                <a:latin typeface="微软雅黑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5" y="29718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2="http://schemas.openxmlformats.org/wordprocessingml/2006/main" sz="1300" b="1" ns12:eastAsia="微软雅黑">
                <a:solidFill>
                  <a:srgbClr val="1A1A2E"/>
                </a:solidFill>
                <a:latin typeface="微软雅黑"/>
              </a:rPr>
              <a:t>层 DAG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5" y="3383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3="http://schemas.openxmlformats.org/wordprocessingml/2006/main" sz="1100" b="0" ns13:eastAsia="微软雅黑">
                <a:solidFill>
                  <a:srgbClr val="6B7280"/>
                </a:solidFill>
                <a:latin typeface="微软雅黑"/>
              </a:rPr>
              <a:t>专家→红队→总指挥→评审→路演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10928" y="1920240"/>
            <a:ext cx="21031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0928" y="210312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4="http://schemas.openxmlformats.org/wordprocessingml/2006/main" sz="3600" b="1" ns14:eastAsia="微软雅黑">
                <a:solidFill>
                  <a:srgbClr val="16A34A"/>
                </a:solidFill>
                <a:latin typeface="微软雅黑"/>
              </a:rPr>
              <a:t>12/12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0928" y="29718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5="http://schemas.openxmlformats.org/wordprocessingml/2006/main" sz="1300" b="1" ns15:eastAsia="微软雅黑">
                <a:solidFill>
                  <a:srgbClr val="1A1A2E"/>
                </a:solidFill>
                <a:latin typeface="微软雅黑"/>
              </a:rPr>
              <a:t>真实运行完成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7" y="3383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6="http://schemas.openxmlformats.org/wordprocessingml/2006/main" sz="1100" b="0" ns16:eastAsia="微软雅黑">
                <a:solidFill>
                  <a:srgbClr val="6B7280"/>
                </a:solidFill>
                <a:latin typeface="微软雅黑"/>
              </a:rPr>
              <a:t>Run 可复查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617720"/>
            <a:ext cx="10972800" cy="1005840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EE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36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7="http://schemas.openxmlformats.org/wordprocessingml/2006/main" sz="1300" b="1" ns17:eastAsia="微软雅黑">
                <a:solidFill>
                  <a:srgbClr val="5B63E8"/>
                </a:solidFill>
                <a:latin typeface="微软雅黑"/>
              </a:rPr>
              <a:t>单次真实运行对比观察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74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8="http://schemas.openxmlformats.org/wordprocessingml/2006/main" sz="2200" b="1" ns18:eastAsia="微软雅黑">
                <a:solidFill>
                  <a:srgbClr val="1A1A2E"/>
                </a:solidFill>
                <a:latin typeface="微软雅黑"/>
              </a:rPr>
              <a:t>363.8s  →  267.8s（约 26.4%）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9="http://schemas.openxmlformats.org/wordprocessingml/2006/main" sz="1100" b="0" ns19:eastAsia="微软雅黑">
                <a:solidFill>
                  <a:srgbClr val="6B7280"/>
                </a:solidFill>
                <a:latin typeface="微软雅黑"/>
              </a:rPr>
              <a:t>* 单次真实运行对比观察，非稳定性能基准；不包装未经统计验证的“准确率/性能指标”。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0="http://schemas.openxmlformats.org/wordprocessingml/2006/main" sz="1000" b="0" ns20:eastAsia="微软雅黑">
                <a:solidFill>
                  <a:srgbClr val="9CA3AF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21="http://schemas.openxmlformats.org/wordprocessingml/2006/main" sz="1000" b="0" ns21:eastAsia="微软雅黑">
                <a:solidFill>
                  <a:srgbClr val="9CA3AF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1100" b="1" ns0:eastAsia="微软雅黑">
                <a:solidFill>
                  <a:srgbClr val="5B63E8"/>
                </a:solidFill>
                <a:latin typeface="微软雅黑"/>
              </a:rPr>
              <a:t>FINAL VERDICT · run_ecf846e4ff50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2800" b="1" ns1:eastAsia="微软雅黑">
                <a:solidFill>
                  <a:srgbClr val="1A1A2E"/>
                </a:solidFill>
                <a:latin typeface="微软雅黑"/>
              </a:rPr>
              <a:t>一次真实运行的终审结论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2606040" cy="457200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9339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="http://schemas.openxmlformats.org/wordprocessingml/2006/main" sz="1300" b="1" ns2:eastAsia="微软雅黑">
                <a:solidFill>
                  <a:srgbClr val="E85B5B"/>
                </a:solidFill>
                <a:latin typeface="微软雅黑"/>
              </a:rPr>
              <a:t>风险审查官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60320"/>
            <a:ext cx="2286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xmlns:ns3="http://schemas.openxmlformats.org/wordprocessingml/2006/main" sz="1400" b="1" ns3:eastAsia="微软雅黑">
                <a:solidFill>
                  <a:srgbClr val="1A1A2E"/>
                </a:solidFill>
                <a:latin typeface="微软雅黑"/>
              </a:rPr>
              <a:t>风险阻断：是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92024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920240"/>
            <a:ext cx="2606040" cy="457200"/>
          </a:xfrm>
          <a:prstGeom prst="rect">
            <a:avLst/>
          </a:prstGeom>
          <a:solidFill>
            <a:srgbClr val="F2EEFB"/>
          </a:solidFill>
          <a:ln w="12700">
            <a:solidFill>
              <a:srgbClr val="F2E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99339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4="http://schemas.openxmlformats.org/wordprocessingml/2006/main" sz="1300" b="1" ns4:eastAsia="微软雅黑">
                <a:solidFill>
                  <a:srgbClr val="7A65D8"/>
                </a:solidFill>
                <a:latin typeface="微软雅黑"/>
              </a:rPr>
              <a:t>创业总指挥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560320"/>
            <a:ext cx="2286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xmlns:ns5="http://schemas.openxmlformats.org/wordprocessingml/2006/main" sz="1400" b="1" ns5:eastAsia="微软雅黑">
                <a:solidFill>
                  <a:srgbClr val="1A1A2E"/>
                </a:solidFill>
                <a:latin typeface="微软雅黑"/>
              </a:rPr>
              <a:t>阶段结论：想法验证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92024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2784" y="1920240"/>
            <a:ext cx="2606040" cy="457200"/>
          </a:xfrm>
          <a:prstGeom prst="rect">
            <a:avLst/>
          </a:prstGeom>
          <a:solidFill>
            <a:srgbClr val="F2EEFB"/>
          </a:solidFill>
          <a:ln w="12700">
            <a:solidFill>
              <a:srgbClr val="F2E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99339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6="http://schemas.openxmlformats.org/wordprocessingml/2006/main" sz="1300" b="1" ns6:eastAsia="微软雅黑">
                <a:solidFill>
                  <a:srgbClr val="7A65D8"/>
                </a:solidFill>
                <a:latin typeface="微软雅黑"/>
              </a:rPr>
              <a:t>项目评审官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560320"/>
            <a:ext cx="2286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xmlns:ns7="http://schemas.openxmlformats.org/wordprocessingml/2006/main" sz="1400" b="1" ns7:eastAsia="微软雅黑">
                <a:solidFill>
                  <a:srgbClr val="1A1A2E"/>
                </a:solidFill>
                <a:latin typeface="微软雅黑"/>
              </a:rPr>
              <a:t>暂缓进入修订周期
红线一票否决：是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192024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89136" y="1920240"/>
            <a:ext cx="2606040" cy="457200"/>
          </a:xfrm>
          <a:prstGeom prst="rect">
            <a:avLst/>
          </a:prstGeom>
          <a:solidFill>
            <a:srgbClr val="F2EEFB"/>
          </a:solidFill>
          <a:ln w="12700">
            <a:solidFill>
              <a:srgbClr val="F2E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2015" y="199339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8="http://schemas.openxmlformats.org/wordprocessingml/2006/main" sz="1300" b="1" ns8:eastAsia="微软雅黑">
                <a:solidFill>
                  <a:srgbClr val="7A65D8"/>
                </a:solidFill>
                <a:latin typeface="微软雅黑"/>
              </a:rPr>
              <a:t>路演答辩官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5" y="2560320"/>
            <a:ext cx="2286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xmlns:ns9="http://schemas.openxmlformats.org/wordprocessingml/2006/main" sz="1400" b="1" ns9:eastAsia="微软雅黑">
                <a:solidFill>
                  <a:srgbClr val="1A1A2E"/>
                </a:solidFill>
                <a:latin typeface="微软雅黑"/>
              </a:rPr>
              <a:t>暂不建议路演
被击穿问题数：24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72800" cy="640080"/>
          </a:xfrm>
          <a:prstGeom prst="roundRect">
            <a:avLst/>
          </a:prstGeom>
          <a:solidFill>
            <a:srgbClr val="EAFBEF"/>
          </a:solidFill>
          <a:ln w="12700">
            <a:solidFill>
              <a:srgbClr val="BBE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0740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0="http://schemas.openxmlformats.org/wordprocessingml/2006/main" sz="1300" b="1" ns10:eastAsia="微软雅黑">
                <a:solidFill>
                  <a:srgbClr val="16A34A"/>
                </a:solidFill>
                <a:latin typeface="微软雅黑"/>
              </a:rPr>
              <a:t>✅ 决策链一致性检查：风险 → 总指挥 → 评审 → 路演 结论链无程序级冲突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74920"/>
            <a:ext cx="10972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937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1="http://schemas.openxmlformats.org/wordprocessingml/2006/main" sz="1300" b="0" ns11:eastAsia="微软雅黑">
                <a:solidFill>
                  <a:srgbClr val="1A1A2E"/>
                </a:solidFill>
                <a:latin typeface="微软雅黑"/>
              </a:rPr>
              <a:t>运行结算：12/12 success ｜ 返工 0 次 ｜ 警告 1 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2="http://schemas.openxmlformats.org/wordprocessingml/2006/main" sz="1400" b="1" ns12:eastAsia="微软雅黑">
                <a:solidFill>
                  <a:srgbClr val="E85B5B"/>
                </a:solidFill>
                <a:latin typeface="微软雅黑"/>
              </a:rPr>
              <a:t>所有结论来自真实项目报告——系统真的会对你说“不通过”。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3="http://schemas.openxmlformats.org/wordprocessingml/2006/main" sz="1000" b="0" ns13:eastAsia="微软雅黑">
                <a:solidFill>
                  <a:srgbClr val="9CA3AF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14="http://schemas.openxmlformats.org/wordprocessingml/2006/main" sz="1000" b="0" ns14:eastAsia="微软雅黑">
                <a:solidFill>
                  <a:srgbClr val="9CA3AF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1100" b="1" ns0:eastAsia="微软雅黑">
                <a:solidFill>
                  <a:srgbClr val="5B63E8"/>
                </a:solidFill>
                <a:latin typeface="微软雅黑"/>
              </a:rPr>
              <a:t>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2800" b="1" ns1:eastAsia="微软雅黑">
                <a:solidFill>
                  <a:srgbClr val="1A1A2E"/>
                </a:solidFill>
                <a:latin typeface="微软雅黑"/>
              </a:rPr>
              <a:t>从输入想法到拿到结构化诊断结果</a:t>
            </a:r>
          </a:p>
        </p:txBody>
      </p:sp>
      <p:pic>
        <p:nvPicPr>
          <p:cNvPr id="4" name="Picture 3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5349240" cy="3714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840479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2="http://schemas.openxmlformats.org/wordprocessingml/2006/main" sz="1100" b="1" ns2:eastAsia="微软雅黑">
                <a:solidFill>
                  <a:srgbClr val="6B7280"/>
                </a:solidFill>
                <a:latin typeface="微软雅黑"/>
              </a:rPr>
              <a:t>首页：输入想法</a:t>
            </a:r>
          </a:p>
        </p:txBody>
      </p:sp>
      <p:pic>
        <p:nvPicPr>
          <p:cNvPr id="6" name="Picture 5" descr="02_run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74519"/>
            <a:ext cx="534924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3840479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3="http://schemas.openxmlformats.org/wordprocessingml/2006/main" sz="1100" b="1" ns3:eastAsia="微软雅黑">
                <a:solidFill>
                  <a:srgbClr val="6B7280"/>
                </a:solidFill>
                <a:latin typeface="微软雅黑"/>
              </a:rPr>
              <a:t>委员会运行 + Agent 状态</a:t>
            </a:r>
          </a:p>
        </p:txBody>
      </p:sp>
      <p:pic>
        <p:nvPicPr>
          <p:cNvPr id="8" name="Picture 7" descr="04_redt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23360"/>
            <a:ext cx="5349240" cy="26798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989320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4="http://schemas.openxmlformats.org/wordprocessingml/2006/main" sz="1100" b="1" ns4:eastAsia="微软雅黑">
                <a:solidFill>
                  <a:srgbClr val="6B7280"/>
                </a:solidFill>
                <a:latin typeface="微软雅黑"/>
              </a:rPr>
              <a:t>红队质疑报告</a:t>
            </a:r>
          </a:p>
        </p:txBody>
      </p:sp>
      <p:pic>
        <p:nvPicPr>
          <p:cNvPr id="10" name="Picture 9" descr="03_res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23360"/>
            <a:ext cx="5349240" cy="3714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989320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5="http://schemas.openxmlformats.org/wordprocessingml/2006/main" sz="1100" b="1" ns5:eastAsia="微软雅黑">
                <a:solidFill>
                  <a:srgbClr val="6B7280"/>
                </a:solidFill>
                <a:latin typeface="微软雅黑"/>
              </a:rPr>
              <a:t>终审报告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6="http://schemas.openxmlformats.org/wordprocessingml/2006/main" sz="1300" b="0" ns6:eastAsia="微软雅黑">
                <a:solidFill>
                  <a:srgbClr val="6B7280"/>
                </a:solidFill>
                <a:latin typeface="微软雅黑"/>
              </a:rPr>
              <a:t>用户只做一件事——提交想法；剩下的委员会自己跑完，输出可追溯的诊断结果。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7="http://schemas.openxmlformats.org/wordprocessingml/2006/main" sz="1000" b="0" ns7:eastAsia="微软雅黑">
                <a:solidFill>
                  <a:srgbClr val="9CA3AF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8="http://schemas.openxmlformats.org/wordprocessingml/2006/main" sz="1000" b="0" ns8:eastAsia="微软雅黑">
                <a:solidFill>
                  <a:srgbClr val="9CA3AF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1100" b="1" ns0:eastAsia="微软雅黑">
                <a:solidFill>
                  <a:srgbClr val="5B63E8"/>
                </a:solidFill>
                <a:latin typeface="微软雅黑"/>
              </a:rP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2800" b="1" ns1:eastAsia="微软雅黑">
                <a:solidFill>
                  <a:srgbClr val="1A1A2E"/>
                </a:solidFill>
                <a:latin typeface="微软雅黑"/>
              </a:rPr>
              <a:t>不是“用了多 Agent”，而是委员会式决策链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23774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2="http://schemas.openxmlformats.org/wordprocessingml/2006/main" sz="1300" b="1" ns2:eastAsia="微软雅黑">
                <a:solidFill>
                  <a:srgbClr val="1A1A2E"/>
                </a:solidFill>
                <a:latin typeface="微软雅黑"/>
              </a:rPr>
              <a:t>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39" y="1874519"/>
            <a:ext cx="28346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39" y="19659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3="http://schemas.openxmlformats.org/wordprocessingml/2006/main" sz="1300" b="1" ns3:eastAsia="微软雅黑">
                <a:solidFill>
                  <a:srgbClr val="1A1A2E"/>
                </a:solidFill>
                <a:latin typeface="微软雅黑"/>
              </a:rPr>
              <a:t>普通 AI 助手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874519"/>
            <a:ext cx="28346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9659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4="http://schemas.openxmlformats.org/wordprocessingml/2006/main" sz="1300" b="1" ns4:eastAsia="微软雅黑">
                <a:solidFill>
                  <a:srgbClr val="1A1A2E"/>
                </a:solidFill>
                <a:latin typeface="微软雅黑"/>
              </a:rPr>
              <a:t>商业计划生成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74519"/>
            <a:ext cx="3200400" cy="502920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9659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5="http://schemas.openxmlformats.org/wordprocessingml/2006/main" sz="1300" b="1" ns5:eastAsia="微软雅黑">
                <a:solidFill>
                  <a:srgbClr val="5B63E8"/>
                </a:solidFill>
                <a:latin typeface="微软雅黑"/>
              </a:rPr>
              <a:t>创想∞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23160"/>
            <a:ext cx="2377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256946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6="http://schemas.openxmlformats.org/wordprocessingml/2006/main" sz="1200" b="1" ns6:eastAsia="微软雅黑">
                <a:solidFill>
                  <a:srgbClr val="1A1A2E"/>
                </a:solidFill>
                <a:latin typeface="微软雅黑"/>
              </a:rPr>
              <a:t>交互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39" y="2423160"/>
            <a:ext cx="2834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79" y="256946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7="http://schemas.openxmlformats.org/wordprocessingml/2006/main" sz="1200" b="0" ns7:eastAsia="微软雅黑">
                <a:solidFill>
                  <a:srgbClr val="6B7280"/>
                </a:solidFill>
                <a:latin typeface="微软雅黑"/>
              </a:rPr>
              <a:t>提问→回答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423160"/>
            <a:ext cx="2834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56946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8="http://schemas.openxmlformats.org/wordprocessingml/2006/main" sz="1200" b="0" ns8:eastAsia="微软雅黑">
                <a:solidFill>
                  <a:srgbClr val="6B7280"/>
                </a:solidFill>
                <a:latin typeface="微软雅黑"/>
              </a:rPr>
              <a:t>想法→扩写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2423160"/>
            <a:ext cx="3200400" cy="621792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2569464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9="http://schemas.openxmlformats.org/wordprocessingml/2006/main" sz="1200" b="1" ns9:eastAsia="微软雅黑">
                <a:solidFill>
                  <a:srgbClr val="5B63E8"/>
                </a:solidFill>
                <a:latin typeface="微软雅黑"/>
              </a:rPr>
              <a:t>多专家→红队→决策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36391"/>
            <a:ext cx="2377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3282696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0="http://schemas.openxmlformats.org/wordprocessingml/2006/main" sz="1200" b="1" ns10:eastAsia="微软雅黑">
                <a:solidFill>
                  <a:srgbClr val="1A1A2E"/>
                </a:solidFill>
                <a:latin typeface="微软雅黑"/>
              </a:rPr>
              <a:t>立场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39" y="3136391"/>
            <a:ext cx="2834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79" y="3282696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1="http://schemas.openxmlformats.org/wordprocessingml/2006/main" sz="1200" b="0" ns11:eastAsia="微软雅黑">
                <a:solidFill>
                  <a:srgbClr val="6B7280"/>
                </a:solidFill>
                <a:latin typeface="微软雅黑"/>
              </a:rPr>
              <a:t>顺着用户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3136391"/>
            <a:ext cx="2834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3282696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2="http://schemas.openxmlformats.org/wordprocessingml/2006/main" sz="1200" b="0" ns12:eastAsia="微软雅黑">
                <a:solidFill>
                  <a:srgbClr val="6B7280"/>
                </a:solidFill>
                <a:latin typeface="微软雅黑"/>
              </a:rPr>
              <a:t>顺着用户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3136391"/>
            <a:ext cx="3200400" cy="621792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3282696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3="http://schemas.openxmlformats.org/wordprocessingml/2006/main" sz="1200" b="1" ns13:eastAsia="微软雅黑">
                <a:solidFill>
                  <a:srgbClr val="5B63E8"/>
                </a:solidFill>
                <a:latin typeface="微软雅黑"/>
              </a:rPr>
              <a:t>主动反驳、找失败理由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849624"/>
            <a:ext cx="2377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19" y="399592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4="http://schemas.openxmlformats.org/wordprocessingml/2006/main" sz="1200" b="1" ns14:eastAsia="微软雅黑">
                <a:solidFill>
                  <a:srgbClr val="1A1A2E"/>
                </a:solidFill>
                <a:latin typeface="微软雅黑"/>
              </a:rPr>
              <a:t>输出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63239" y="3849624"/>
            <a:ext cx="2834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54679" y="399592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5="http://schemas.openxmlformats.org/wordprocessingml/2006/main" sz="1200" b="0" ns15:eastAsia="微软雅黑">
                <a:solidFill>
                  <a:srgbClr val="6B7280"/>
                </a:solidFill>
                <a:latin typeface="微软雅黑"/>
              </a:rPr>
              <a:t>单轮回答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3849624"/>
            <a:ext cx="2834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99592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6="http://schemas.openxmlformats.org/wordprocessingml/2006/main" sz="1200" b="0" ns16:eastAsia="微软雅黑">
                <a:solidFill>
                  <a:srgbClr val="6B7280"/>
                </a:solidFill>
                <a:latin typeface="微软雅黑"/>
              </a:rPr>
              <a:t>一份文案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60" y="3849624"/>
            <a:ext cx="3200400" cy="621792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399592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7="http://schemas.openxmlformats.org/wordprocessingml/2006/main" sz="1200" b="1" ns17:eastAsia="微软雅黑">
                <a:solidFill>
                  <a:srgbClr val="5B63E8"/>
                </a:solidFill>
                <a:latin typeface="微软雅黑"/>
              </a:rPr>
              <a:t>决策链+12份报告+诊断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562856"/>
            <a:ext cx="2377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19" y="47091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8="http://schemas.openxmlformats.org/wordprocessingml/2006/main" sz="1200" b="1" ns18:eastAsia="微软雅黑">
                <a:solidFill>
                  <a:srgbClr val="1A1A2E"/>
                </a:solidFill>
                <a:latin typeface="微软雅黑"/>
              </a:rPr>
              <a:t>迭代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63239" y="4562856"/>
            <a:ext cx="2834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54679" y="470916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9="http://schemas.openxmlformats.org/wordprocessingml/2006/main" sz="1200" b="0" ns19:eastAsia="微软雅黑">
                <a:solidFill>
                  <a:srgbClr val="6B7280"/>
                </a:solidFill>
                <a:latin typeface="微软雅黑"/>
              </a:rPr>
              <a:t>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4562856"/>
            <a:ext cx="2834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470916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20="http://schemas.openxmlformats.org/wordprocessingml/2006/main" sz="1200" b="0" ns20:eastAsia="微软雅黑">
                <a:solidFill>
                  <a:srgbClr val="6B7280"/>
                </a:solidFill>
                <a:latin typeface="微软雅黑"/>
              </a:rPr>
              <a:t>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3960" y="4562856"/>
            <a:ext cx="3200400" cy="621792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5400" y="47091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21="http://schemas.openxmlformats.org/wordprocessingml/2006/main" sz="1200" b="1" ns21:eastAsia="微软雅黑">
                <a:solidFill>
                  <a:srgbClr val="5B63E8"/>
                </a:solidFill>
                <a:latin typeface="微软雅黑"/>
              </a:rPr>
              <a:t>二次审议、断点恢复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2="http://schemas.openxmlformats.org/wordprocessingml/2006/main" sz="1400" b="1" ns22:eastAsia="微软雅黑">
                <a:solidFill>
                  <a:srgbClr val="5B63E8"/>
                </a:solidFill>
                <a:latin typeface="微软雅黑"/>
              </a:rPr>
              <a:t>差异化来自：12 Agent 专业分工 + 红队对抗 + DAG 协同 + 工程化运行机制。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3="http://schemas.openxmlformats.org/wordprocessingml/2006/main" sz="1000" b="0" ns23:eastAsia="微软雅黑">
                <a:solidFill>
                  <a:srgbClr val="9CA3AF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24="http://schemas.openxmlformats.org/wordprocessingml/2006/main" sz="1000" b="0" ns24:eastAsia="微软雅黑">
                <a:solidFill>
                  <a:srgbClr val="9CA3AF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1100" b="1" ns0:eastAsia="微软雅黑">
                <a:solidFill>
                  <a:srgbClr val="5B63E8"/>
                </a:solidFill>
                <a:latin typeface="微软雅黑"/>
              </a:rPr>
              <a:t>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2800" b="1" ns1:eastAsia="微软雅黑">
                <a:solidFill>
                  <a:srgbClr val="1A1A2E"/>
                </a:solidFill>
                <a:latin typeface="微软雅黑"/>
              </a:rPr>
              <a:t>不只是“能调用 Agent”，而是可控的工程系统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566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1284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="http://schemas.openxmlformats.org/wordprocessingml/2006/main" sz="1500" b="1" ns2:eastAsia="微软雅黑">
                <a:solidFill>
                  <a:srgbClr val="5B63E8"/>
                </a:solidFill>
                <a:latin typeface="微软雅黑"/>
              </a:rPr>
              <a:t>✓  Agent 依赖管理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920240"/>
            <a:ext cx="3566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8" y="221284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3="http://schemas.openxmlformats.org/wordprocessingml/2006/main" sz="1500" b="1" ns3:eastAsia="微软雅黑">
                <a:solidFill>
                  <a:srgbClr val="5B63E8"/>
                </a:solidFill>
                <a:latin typeface="微软雅黑"/>
              </a:rPr>
              <a:t>✓  DAG 调度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74736" y="1920240"/>
            <a:ext cx="3566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03336" y="221284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4="http://schemas.openxmlformats.org/wordprocessingml/2006/main" sz="1500" b="1" ns4:eastAsia="微软雅黑">
                <a:solidFill>
                  <a:srgbClr val="5B63E8"/>
                </a:solidFill>
                <a:latin typeface="微软雅黑"/>
              </a:rPr>
              <a:t>✓  状态管理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08960"/>
            <a:ext cx="3566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0156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5="http://schemas.openxmlformats.org/wordprocessingml/2006/main" sz="1500" b="1" ns5:eastAsia="微软雅黑">
                <a:solidFill>
                  <a:srgbClr val="E85B5B"/>
                </a:solidFill>
                <a:latin typeface="微软雅黑"/>
              </a:rPr>
              <a:t>✓  异常隔离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3108960"/>
            <a:ext cx="3566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340156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6="http://schemas.openxmlformats.org/wordprocessingml/2006/main" sz="1500" b="1" ns6:eastAsia="微软雅黑">
                <a:solidFill>
                  <a:srgbClr val="4F7DFF"/>
                </a:solidFill>
                <a:latin typeface="微软雅黑"/>
              </a:rPr>
              <a:t>✓  Validator 校验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3108960"/>
            <a:ext cx="3566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340156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7="http://schemas.openxmlformats.org/wordprocessingml/2006/main" sz="1500" b="1" ns7:eastAsia="微软雅黑">
                <a:solidFill>
                  <a:srgbClr val="4F7DFF"/>
                </a:solidFill>
                <a:latin typeface="微软雅黑"/>
              </a:rPr>
              <a:t>✓  Critic/Repair 返工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97680"/>
            <a:ext cx="3566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902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8="http://schemas.openxmlformats.org/wordprocessingml/2006/main" sz="1500" b="1" ns8:eastAsia="微软雅黑">
                <a:solidFill>
                  <a:srgbClr val="7A65D8"/>
                </a:solidFill>
                <a:latin typeface="微软雅黑"/>
              </a:rPr>
              <a:t>✓  Checkpoint 检查点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4297680"/>
            <a:ext cx="3566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45902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9="http://schemas.openxmlformats.org/wordprocessingml/2006/main" sz="1500" b="1" ns9:eastAsia="微软雅黑">
                <a:solidFill>
                  <a:srgbClr val="7A65D8"/>
                </a:solidFill>
                <a:latin typeface="微软雅黑"/>
              </a:rPr>
              <a:t>✓  Resume 断点续跑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4736" y="4297680"/>
            <a:ext cx="3566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3336" y="459028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0="http://schemas.openxmlformats.org/wordprocessingml/2006/main" sz="1500" b="1" ns10:eastAsia="微软雅黑">
                <a:solidFill>
                  <a:srgbClr val="7A65D8"/>
                </a:solidFill>
                <a:latin typeface="微软雅黑"/>
              </a:rPr>
              <a:t>✓  Report 持久化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1="http://schemas.openxmlformats.org/wordprocessingml/2006/main" sz="1600" b="1" ns11:eastAsia="微软雅黑">
                <a:solidFill>
                  <a:srgbClr val="5B63E8"/>
                </a:solidFill>
                <a:latin typeface="微软雅黑"/>
              </a:rPr>
              <a:t>工程观：LLM 是不受信任的执行者，程序负责最终约束。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2="http://schemas.openxmlformats.org/wordprocessingml/2006/main" sz="1000" b="0" ns12:eastAsia="微软雅黑">
                <a:solidFill>
                  <a:srgbClr val="9CA3AF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13="http://schemas.openxmlformats.org/wordprocessingml/2006/main" sz="1000" b="0" ns13:eastAsia="微软雅黑">
                <a:solidFill>
                  <a:srgbClr val="9CA3AF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1100" b="1" ns0:eastAsia="微软雅黑">
                <a:solidFill>
                  <a:srgbClr val="5B63E8"/>
                </a:solidFill>
                <a:latin typeface="微软雅黑"/>
              </a:rPr>
              <a:t>VALUE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2800" b="1" ns1:eastAsia="微软雅黑">
                <a:solidFill>
                  <a:srgbClr val="1A1A2E"/>
                </a:solidFill>
                <a:latin typeface="微软雅黑"/>
              </a:rPr>
              <a:t>先做好“早期评审”这一件事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3566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="http://schemas.openxmlformats.org/wordprocessingml/2006/main" sz="1700" b="1" ns2:eastAsia="微软雅黑">
                <a:solidFill>
                  <a:srgbClr val="5B63E8"/>
                </a:solidFill>
                <a:latin typeface="微软雅黑"/>
              </a:rPr>
              <a:t>对学生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3="http://schemas.openxmlformats.org/wordprocessingml/2006/main" sz="1200" b="0" ns3:eastAsia="微软雅黑">
                <a:solidFill>
                  <a:srgbClr val="6B7280"/>
                </a:solidFill>
                <a:latin typeface="微软雅黑"/>
              </a:rPr>
              <a:t>在投入时间金钱前，提前经历严苛、诚实的委员会拷问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874519"/>
            <a:ext cx="3566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20574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4="http://schemas.openxmlformats.org/wordprocessingml/2006/main" sz="1700" b="1" ns4:eastAsia="微软雅黑">
                <a:solidFill>
                  <a:srgbClr val="5B63E8"/>
                </a:solidFill>
                <a:latin typeface="微软雅黑"/>
              </a:rPr>
              <a:t>对教师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260604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5="http://schemas.openxmlformats.org/wordprocessingml/2006/main" sz="1200" b="0" ns5:eastAsia="微软雅黑">
                <a:solidFill>
                  <a:srgbClr val="6B7280"/>
                </a:solidFill>
                <a:latin typeface="微软雅黑"/>
              </a:rPr>
              <a:t>12 维结构化初筛与可追溯报告，降低人工评审负荷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4736" y="1874519"/>
            <a:ext cx="3566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03336" y="20574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6="http://schemas.openxmlformats.org/wordprocessingml/2006/main" sz="1700" b="1" ns6:eastAsia="微软雅黑">
                <a:solidFill>
                  <a:srgbClr val="5B63E8"/>
                </a:solidFill>
                <a:latin typeface="微软雅黑"/>
              </a:rPr>
              <a:t>对高校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3336" y="260604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7="http://schemas.openxmlformats.org/wordprocessingml/2006/main" sz="1200" b="0" ns7:eastAsia="微软雅黑">
                <a:solidFill>
                  <a:srgbClr val="6B7280"/>
                </a:solidFill>
                <a:latin typeface="微软雅黑"/>
              </a:rPr>
              <a:t>双创课程的可复盘教学工具，每个想法留下完整证据链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10972800" cy="1828800"/>
          </a:xfrm>
          <a:prstGeom prst="roundRect">
            <a:avLst/>
          </a:prstGeom>
          <a:solidFill>
            <a:srgbClr val="F2EEFB"/>
          </a:solidFill>
          <a:ln w="12700">
            <a:solidFill>
              <a:srgbClr val="F2EE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8="http://schemas.openxmlformats.org/wordprocessingml/2006/main" sz="1300" b="1" ns8:eastAsia="微软雅黑">
                <a:solidFill>
                  <a:srgbClr val="7A65D8"/>
                </a:solidFill>
                <a:latin typeface="微软雅黑"/>
              </a:rPr>
              <a:t>后续规划 / 未来扩展（非已完成）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9="http://schemas.openxmlformats.org/wordprocessingml/2006/main" sz="1200" b="0" ns9:eastAsia="微软雅黑">
                <a:solidFill>
                  <a:srgbClr val="1A1A2E"/>
                </a:solidFill>
                <a:latin typeface="微软雅黑"/>
              </a:rPr>
              <a:t>· 更多行业创业模板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3434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0="http://schemas.openxmlformats.org/wordprocessingml/2006/main" sz="1200" b="0" ns10:eastAsia="微软雅黑">
                <a:solidFill>
                  <a:srgbClr val="1A1A2E"/>
                </a:solidFill>
                <a:latin typeface="微软雅黑"/>
              </a:rPr>
              <a:t>· 创业数据知识库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3434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1="http://schemas.openxmlformats.org/wordprocessingml/2006/main" sz="1200" b="0" ns11:eastAsia="微软雅黑">
                <a:solidFill>
                  <a:srgbClr val="1A1A2E"/>
                </a:solidFill>
                <a:latin typeface="微软雅黑"/>
              </a:rPr>
              <a:t>· 用户长期项目记忆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2="http://schemas.openxmlformats.org/wordprocessingml/2006/main" sz="1200" b="0" ns12:eastAsia="微软雅黑">
                <a:solidFill>
                  <a:srgbClr val="1A1A2E"/>
                </a:solidFill>
                <a:latin typeface="微软雅黑"/>
              </a:rPr>
              <a:t>· 多轮项目修订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84632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3="http://schemas.openxmlformats.org/wordprocessingml/2006/main" sz="1200" b="0" ns13:eastAsia="微软雅黑">
                <a:solidFill>
                  <a:srgbClr val="1A1A2E"/>
                </a:solidFill>
                <a:latin typeface="微软雅黑"/>
              </a:rPr>
              <a:t>· 项目历史版本对比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84632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4="http://schemas.openxmlformats.org/wordprocessingml/2006/main" sz="1200" b="0" ns14:eastAsia="微软雅黑">
                <a:solidFill>
                  <a:srgbClr val="1A1A2E"/>
                </a:solidFill>
                <a:latin typeface="微软雅黑"/>
              </a:rPr>
              <a:t>· 更完整的模拟投资人/评委体系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5="http://schemas.openxmlformats.org/wordprocessingml/2006/main" sz="1200" b="0" ns15:eastAsia="微软雅黑">
                <a:solidFill>
                  <a:srgbClr val="6B7280"/>
                </a:solidFill>
                <a:latin typeface="微软雅黑"/>
              </a:rPr>
              <a:t>不把未来规划包装成当前已有功能。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6="http://schemas.openxmlformats.org/wordprocessingml/2006/main" sz="1000" b="0" ns16:eastAsia="微软雅黑">
                <a:solidFill>
                  <a:srgbClr val="9CA3AF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17="http://schemas.openxmlformats.org/wordprocessingml/2006/main" sz="1000" b="0" ns17:eastAsia="微软雅黑">
                <a:solidFill>
                  <a:srgbClr val="9CA3AF"/>
                </a:solidFill>
                <a:latin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63E8"/>
          </a:solidFill>
          <a:ln w="12700">
            <a:solidFill>
              <a:srgbClr val="5B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xmlns:ns0="http://schemas.openxmlformats.org/wordprocessingml/2006/main" sz="3600" b="1" ns0:eastAsia="微软雅黑">
                <a:solidFill>
                  <a:srgbClr val="1A1A2E"/>
                </a:solidFill>
                <a:latin typeface="微软雅黑"/>
              </a:rPr>
              <a:t>在见投资人之前，</a:t>
            </a:r>
          </a:p>
          <a:p>
            <a:pPr algn="l">
              <a:spcAft>
                <a:spcPts val="400"/>
              </a:spcAft>
            </a:pPr>
            <a:r>
              <a:rPr xmlns:ns1="http://schemas.openxmlformats.org/wordprocessingml/2006/main" sz="3600" b="1" ns1:eastAsia="微软雅黑">
                <a:solidFill>
                  <a:srgbClr val="5B63E8"/>
                </a:solidFill>
                <a:latin typeface="微软雅黑"/>
              </a:rPr>
              <a:t>先见你的 AI 委员会。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="http://schemas.openxmlformats.org/wordprocessingml/2006/main" sz="2200" b="1" ns2:eastAsia="微软雅黑">
                <a:solidFill>
                  <a:srgbClr val="1A1A2E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120640"/>
            <a:ext cx="1920240" cy="329184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EE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15721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3="http://schemas.openxmlformats.org/wordprocessingml/2006/main" sz="1100" b="1" ns3:eastAsia="微软雅黑">
                <a:solidFill>
                  <a:srgbClr val="5B63E8"/>
                </a:solidFill>
                <a:latin typeface="微软雅黑"/>
              </a:rPr>
              <a:t>12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79" y="5120640"/>
            <a:ext cx="1920240" cy="329184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EE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79" y="515721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4="http://schemas.openxmlformats.org/wordprocessingml/2006/main" sz="1100" b="1" ns4:eastAsia="微软雅黑">
                <a:solidFill>
                  <a:srgbClr val="5B63E8"/>
                </a:solidFill>
                <a:latin typeface="微软雅黑"/>
              </a:rPr>
              <a:t>红队对抗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120640"/>
            <a:ext cx="1920240" cy="329184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EE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515721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5="http://schemas.openxmlformats.org/wordprocessingml/2006/main" sz="1100" b="1" ns5:eastAsia="微软雅黑">
                <a:solidFill>
                  <a:srgbClr val="5B63E8"/>
                </a:solidFill>
                <a:latin typeface="微软雅黑"/>
              </a:rPr>
              <a:t>DAG 协同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5120640"/>
            <a:ext cx="1920240" cy="329184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EE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515721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6="http://schemas.openxmlformats.org/wordprocessingml/2006/main" sz="1100" b="1" ns6:eastAsia="微软雅黑">
                <a:solidFill>
                  <a:srgbClr val="5B63E8"/>
                </a:solidFill>
                <a:latin typeface="微软雅黑"/>
              </a:rPr>
              <a:t>工程化运行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5120640"/>
            <a:ext cx="1920240" cy="329184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EE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515721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7="http://schemas.openxmlformats.org/wordprocessingml/2006/main" sz="1100" b="1" ns7:eastAsia="微软雅黑">
                <a:solidFill>
                  <a:srgbClr val="5B63E8"/>
                </a:solidFill>
                <a:latin typeface="微软雅黑"/>
              </a:rPr>
              <a:t>创业诊断闭环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