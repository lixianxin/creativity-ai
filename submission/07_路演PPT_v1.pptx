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4800" b="1" ns0:eastAsia="微软雅黑">
                <a:solidFill>
                  <a:srgbClr val="F2F6FA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200" b="0" ns1:eastAsia="微软雅黑">
                <a:solidFill>
                  <a:srgbClr val="12B5A3"/>
                </a:solidFill>
                <a:latin typeface="微软雅黑"/>
              </a:rPr>
              <a:t>先质疑，后肯定 —— 12 位 AI 委员的创业评审系统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xmlns:ns2="http://schemas.openxmlformats.org/wordprocessingml/2006/main" sz="1400" b="0" ns2:eastAsia="微软雅黑">
                <a:solidFill>
                  <a:srgbClr val="A9B8CC"/>
                </a:solidFill>
                <a:latin typeface="微软雅黑"/>
              </a:rPr>
              <a:t>输入：高校创新创业场景的 AI 评审系统 · 学生免费、学校机构版采购 · 2 位老师口头感兴趣</a:t>
            </a:r>
          </a:p>
          <a:p>
            <a:pPr algn="l">
              <a:spcAft>
                <a:spcPts val="800"/>
              </a:spcAft>
            </a:pPr>
            <a:r>
              <a:rPr xmlns:ns3="http://schemas.openxmlformats.org/wordprocessingml/2006/main" sz="1400" b="0" ns3:eastAsia="微软雅黑">
                <a:solidFill>
                  <a:srgbClr val="A9B8CC"/>
                </a:solidFill>
                <a:latin typeface="微软雅黑"/>
              </a:rPr>
              <a:t>输出：三委员会接力审查 → 暂缓通过 + 3 条可验证行动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300" b="1" ns4:eastAsia="微软雅黑">
                <a:solidFill>
                  <a:srgbClr val="FF8A3D"/>
                </a:solidFill>
                <a:latin typeface="微软雅黑"/>
              </a:rPr>
              <a:t>路演汇报 · 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为什么需要一个“反方委员会”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566160" cy="40233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56616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2000" b="1" ns1:eastAsia="微软雅黑">
                <a:solidFill>
                  <a:srgbClr val="F2F6FA"/>
                </a:solidFill>
                <a:latin typeface="微软雅黑"/>
              </a:rPr>
              <a:t>反馈来得太晚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3063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500" b="0" ns2:eastAsia="微软雅黑">
                <a:solidFill>
                  <a:srgbClr val="A9B8CC"/>
                </a:solidFill>
                <a:latin typeface="微软雅黑"/>
              </a:rPr>
              <a:t>学生往往路演当天才第一次被问“谁付钱、为什么是你”，致命问题发现即终局。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566160" cy="40233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566160" cy="10972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2000" b="1" ns3:eastAsia="微软雅黑">
                <a:solidFill>
                  <a:srgbClr val="F2F6FA"/>
                </a:solidFill>
                <a:latin typeface="微软雅黑"/>
              </a:rPr>
              <a:t>评审资源稀缺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3063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500" b="0" ns4:eastAsia="微软雅黑">
                <a:solidFill>
                  <a:srgbClr val="A9B8CC"/>
                </a:solidFill>
                <a:latin typeface="微软雅黑"/>
              </a:rPr>
              <a:t>一位老师面对几十上百份项目，口头鼓励多、结构化质疑少，初筛负荷重。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54480"/>
            <a:ext cx="3566160" cy="40233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554480"/>
            <a:ext cx="3566160" cy="10972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92024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2000" b="1" ns5:eastAsia="微软雅黑">
                <a:solidFill>
                  <a:srgbClr val="F2F6FA"/>
                </a:solidFill>
                <a:latin typeface="微软雅黑"/>
              </a:rPr>
              <a:t>想法止步于自嗨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97480"/>
            <a:ext cx="3063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500" b="0" ns6:eastAsia="微软雅黑">
                <a:solidFill>
                  <a:srgbClr val="A9B8CC"/>
                </a:solidFill>
                <a:latin typeface="微软雅黑"/>
              </a:rPr>
              <a:t>需求未验证、付费方不清、壁垒缺失，却没有人专业、即时且敢说“不”。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600" b="1" ns7:eastAsia="微软雅黑">
                <a:solidFill>
                  <a:srgbClr val="FF8A3D"/>
                </a:solidFill>
                <a:latin typeface="微软雅黑"/>
              </a:rPr>
              <a:t>我们的答案：在见投资人之前，先让 AI 委员会把不靠谱的假设杀死。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000" b="0" ns8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9="http://schemas.openxmlformats.org/wordprocessingml/2006/main" sz="1000" b="0" ns9:eastAsia="微软雅黑">
                <a:solidFill>
                  <a:srgbClr val="A9B8CC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三委员会 · 12 个分工冲突的智能体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566160" cy="4946904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566160" cy="10972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1500" b="1" ns1:eastAsia="微软雅黑">
                <a:solidFill>
                  <a:srgbClr val="F2F6FA"/>
                </a:solidFill>
                <a:latin typeface="微软雅黑"/>
              </a:rPr>
              <a:t>专家委员会 · 8 官并行尽调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154680" cy="4489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xmlns:ns2="http://schemas.openxmlformats.org/wordprocessingml/2006/main" sz="1400" b="0" ns2:eastAsia="微软雅黑">
                <a:solidFill>
                  <a:srgbClr val="F2F6FA"/>
                </a:solidFill>
                <a:latin typeface="微软雅黑"/>
              </a:rPr>
              <a:t>• 用户洞察</a:t>
            </a:r>
          </a:p>
          <a:p>
            <a:pPr algn="l">
              <a:spcAft>
                <a:spcPts val="700"/>
              </a:spcAft>
            </a:pPr>
            <a:r>
              <a:rPr xmlns:ns3="http://schemas.openxmlformats.org/wordprocessingml/2006/main" sz="1400" b="0" ns3:eastAsia="微软雅黑">
                <a:solidFill>
                  <a:srgbClr val="F2F6FA"/>
                </a:solidFill>
                <a:latin typeface="微软雅黑"/>
              </a:rPr>
              <a:t>• 市场分析</a:t>
            </a:r>
          </a:p>
          <a:p>
            <a:pPr algn="l">
              <a:spcAft>
                <a:spcPts val="700"/>
              </a:spcAft>
            </a:pPr>
            <a:r>
              <a:rPr xmlns:ns4="http://schemas.openxmlformats.org/wordprocessingml/2006/main" sz="1400" b="0" ns4:eastAsia="微软雅黑">
                <a:solidFill>
                  <a:srgbClr val="F2F6FA"/>
                </a:solidFill>
                <a:latin typeface="微软雅黑"/>
              </a:rPr>
              <a:t>• 竞品分析</a:t>
            </a:r>
          </a:p>
          <a:p>
            <a:pPr algn="l">
              <a:spcAft>
                <a:spcPts val="700"/>
              </a:spcAft>
            </a:pPr>
            <a:r>
              <a:rPr xmlns:ns5="http://schemas.openxmlformats.org/wordprocessingml/2006/main" sz="1400" b="0" ns5:eastAsia="微软雅黑">
                <a:solidFill>
                  <a:srgbClr val="F2F6FA"/>
                </a:solidFill>
                <a:latin typeface="微软雅黑"/>
              </a:rPr>
              <a:t>• 产品设计</a:t>
            </a:r>
          </a:p>
          <a:p>
            <a:pPr algn="l">
              <a:spcAft>
                <a:spcPts val="700"/>
              </a:spcAft>
            </a:pPr>
            <a:r>
              <a:rPr xmlns:ns6="http://schemas.openxmlformats.org/wordprocessingml/2006/main" sz="1400" b="0" ns6:eastAsia="微软雅黑">
                <a:solidFill>
                  <a:srgbClr val="F2F6FA"/>
                </a:solidFill>
                <a:latin typeface="微软雅黑"/>
              </a:rPr>
              <a:t>• 商业模式</a:t>
            </a:r>
          </a:p>
          <a:p>
            <a:pPr algn="l">
              <a:spcAft>
                <a:spcPts val="700"/>
              </a:spcAft>
            </a:pPr>
            <a:r>
              <a:rPr xmlns:ns7="http://schemas.openxmlformats.org/wordprocessingml/2006/main" sz="1400" b="0" ns7:eastAsia="微软雅黑">
                <a:solidFill>
                  <a:srgbClr val="F2F6FA"/>
                </a:solidFill>
                <a:latin typeface="微软雅黑"/>
              </a:rPr>
              <a:t>• 财务分析</a:t>
            </a:r>
          </a:p>
          <a:p>
            <a:pPr algn="l">
              <a:spcAft>
                <a:spcPts val="700"/>
              </a:spcAft>
            </a:pPr>
            <a:r>
              <a:rPr xmlns:ns8="http://schemas.openxmlformats.org/wordprocessingml/2006/main" sz="1400" b="0" ns8:eastAsia="微软雅黑">
                <a:solidFill>
                  <a:srgbClr val="F2F6FA"/>
                </a:solidFill>
                <a:latin typeface="微软雅黑"/>
              </a:rPr>
              <a:t>• 增长运营</a:t>
            </a:r>
          </a:p>
          <a:p>
            <a:pPr algn="l">
              <a:spcAft>
                <a:spcPts val="700"/>
              </a:spcAft>
            </a:pPr>
            <a:r>
              <a:rPr xmlns:ns9="http://schemas.openxmlformats.org/wordprocessingml/2006/main" sz="1400" b="0" ns9:eastAsia="微软雅黑">
                <a:solidFill>
                  <a:srgbClr val="F2F6FA"/>
                </a:solidFill>
                <a:latin typeface="微软雅黑"/>
              </a:rPr>
              <a:t>• 风险审查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566160" cy="26517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08760"/>
            <a:ext cx="356616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0="http://schemas.openxmlformats.org/wordprocessingml/2006/main" sz="1500" b="1" ns10:eastAsia="微软雅黑">
                <a:solidFill>
                  <a:srgbClr val="F2F6FA"/>
                </a:solidFill>
                <a:latin typeface="微软雅黑"/>
              </a:rPr>
              <a:t>对抗委员会 · 只攻击不安慰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xmlns:ns11="http://schemas.openxmlformats.org/wordprocessingml/2006/main" sz="1400" b="1" ns11:eastAsia="微软雅黑">
                <a:solidFill>
                  <a:srgbClr val="E54B4B"/>
                </a:solidFill>
                <a:latin typeface="微软雅黑"/>
              </a:rPr>
              <a:t>• 红队质疑官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566160" cy="26517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508760"/>
            <a:ext cx="3566160" cy="10972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73736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2="http://schemas.openxmlformats.org/wordprocessingml/2006/main" sz="1500" b="1" ns12:eastAsia="微软雅黑">
                <a:solidFill>
                  <a:srgbClr val="F2F6FA"/>
                </a:solidFill>
                <a:latin typeface="微软雅黑"/>
              </a:rPr>
              <a:t>决策委员会 · 分权裁决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xmlns:ns13="http://schemas.openxmlformats.org/wordprocessingml/2006/main" sz="1400" b="0" ns13:eastAsia="微软雅黑">
                <a:solidFill>
                  <a:srgbClr val="F2F6FA"/>
                </a:solidFill>
                <a:latin typeface="微软雅黑"/>
              </a:rPr>
              <a:t>• 创业总指挥</a:t>
            </a:r>
          </a:p>
          <a:p>
            <a:pPr algn="l">
              <a:spcAft>
                <a:spcPts val="700"/>
              </a:spcAft>
            </a:pPr>
            <a:r>
              <a:rPr xmlns:ns14="http://schemas.openxmlformats.org/wordprocessingml/2006/main" sz="1400" b="0" ns14:eastAsia="微软雅黑">
                <a:solidFill>
                  <a:srgbClr val="F2F6FA"/>
                </a:solidFill>
                <a:latin typeface="微软雅黑"/>
              </a:rPr>
              <a:t>• 项目评审官</a:t>
            </a:r>
          </a:p>
          <a:p>
            <a:pPr algn="l">
              <a:spcAft>
                <a:spcPts val="700"/>
              </a:spcAft>
            </a:pPr>
            <a:r>
              <a:rPr xmlns:ns15="http://schemas.openxmlformats.org/wordprocessingml/2006/main" sz="1400" b="0" ns15:eastAsia="微软雅黑">
                <a:solidFill>
                  <a:srgbClr val="F2F6FA"/>
                </a:solidFill>
                <a:latin typeface="微软雅黑"/>
              </a:rPr>
              <a:t>• 路演答辩官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788920"/>
            <a:ext cx="38404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7" y="2788920"/>
            <a:ext cx="38404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6="http://schemas.openxmlformats.org/wordprocessingml/2006/main" sz="1500" b="0" ns16:eastAsia="微软雅黑">
                <a:solidFill>
                  <a:srgbClr val="A9B8CC"/>
                </a:solidFill>
                <a:latin typeface="微软雅黑"/>
              </a:rPr>
              <a:t>角色冲突是被设计出来的：专家分析、红队攻击、风险否决、指挥官与评审官分权。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7="http://schemas.openxmlformats.org/wordprocessingml/2006/main" sz="1000" b="0" ns17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8="http://schemas.openxmlformats.org/wordprocessingml/2006/main" sz="1000" b="0" ns18:eastAsia="微软雅黑">
                <a:solidFill>
                  <a:srgbClr val="A9B8CC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核心业务闭环：用户只提交一次想法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="http://schemas.openxmlformats.org/wordprocessingml/2006/main" sz="1300" b="1" ns1:eastAsia="微软雅黑">
                <a:solidFill>
                  <a:srgbClr val="F2F6FA"/>
                </a:solidFill>
                <a:latin typeface="微软雅黑"/>
              </a:rPr>
              <a:t>输入</a:t>
            </a:r>
          </a:p>
          <a:p>
            <a:pPr algn="ctr">
              <a:spcAft>
                <a:spcPts val="200"/>
              </a:spcAft>
            </a:pPr>
            <a:r>
              <a:rPr xmlns:ns2="http://schemas.openxmlformats.org/wordprocessingml/2006/main" sz="1100" b="0" ns2:eastAsia="微软雅黑">
                <a:solidFill>
                  <a:srgbClr val="A9B8CC"/>
                </a:solidFill>
                <a:latin typeface="微软雅黑"/>
              </a:rPr>
              <a:t>创业想法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92808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12B5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3="http://schemas.openxmlformats.org/wordprocessingml/2006/main" sz="1300" b="1" ns3:eastAsia="微软雅黑">
                <a:solidFill>
                  <a:srgbClr val="F2F6FA"/>
                </a:solidFill>
                <a:latin typeface="微软雅黑"/>
              </a:rPr>
              <a:t>8 专家</a:t>
            </a:r>
          </a:p>
          <a:p>
            <a:pPr algn="ctr">
              <a:spcAft>
                <a:spcPts val="200"/>
              </a:spcAft>
            </a:pPr>
            <a:r>
              <a:rPr xmlns:ns4="http://schemas.openxmlformats.org/wordprocessingml/2006/main" sz="1100" b="0" ns4:eastAsia="微软雅黑">
                <a:solidFill>
                  <a:srgbClr val="A9B8CC"/>
                </a:solidFill>
                <a:latin typeface="微软雅黑"/>
              </a:rPr>
              <a:t>并行尽调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4136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5="http://schemas.openxmlformats.org/wordprocessingml/2006/main" sz="1300" b="1" ns5:eastAsia="微软雅黑">
                <a:solidFill>
                  <a:srgbClr val="F2F6FA"/>
                </a:solidFill>
                <a:latin typeface="微软雅黑"/>
              </a:rPr>
              <a:t>红队</a:t>
            </a:r>
          </a:p>
          <a:p>
            <a:pPr algn="ctr">
              <a:spcAft>
                <a:spcPts val="200"/>
              </a:spcAft>
            </a:pPr>
            <a:r>
              <a:rPr xmlns:ns6="http://schemas.openxmlformats.org/wordprocessingml/2006/main" sz="1100" b="0" ns6:eastAsia="微软雅黑">
                <a:solidFill>
                  <a:srgbClr val="A9B8CC"/>
                </a:solidFill>
                <a:latin typeface="微软雅黑"/>
              </a:rPr>
              <a:t>五维质疑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55464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8616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7="http://schemas.openxmlformats.org/wordprocessingml/2006/main" sz="1300" b="1" ns7:eastAsia="微软雅黑">
                <a:solidFill>
                  <a:srgbClr val="F2F6FA"/>
                </a:solidFill>
                <a:latin typeface="微软雅黑"/>
              </a:rPr>
              <a:t>风险</a:t>
            </a:r>
          </a:p>
          <a:p>
            <a:pPr algn="ctr">
              <a:spcAft>
                <a:spcPts val="200"/>
              </a:spcAft>
            </a:pPr>
            <a:r>
              <a:rPr xmlns:ns8="http://schemas.openxmlformats.org/wordprocessingml/2006/main" sz="1100" b="0" ns8:eastAsia="微软雅黑">
                <a:solidFill>
                  <a:srgbClr val="A9B8CC"/>
                </a:solidFill>
                <a:latin typeface="微软雅黑"/>
              </a:rPr>
              <a:t>红线把关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9="http://schemas.openxmlformats.org/wordprocessingml/2006/main" sz="1300" b="1" ns9:eastAsia="微软雅黑">
                <a:solidFill>
                  <a:srgbClr val="F2F6FA"/>
                </a:solidFill>
                <a:latin typeface="微软雅黑"/>
              </a:rPr>
              <a:t>总指挥</a:t>
            </a:r>
          </a:p>
          <a:p>
            <a:pPr algn="ctr">
              <a:spcAft>
                <a:spcPts val="200"/>
              </a:spcAft>
            </a:pPr>
            <a:r>
              <a:rPr xmlns:ns10="http://schemas.openxmlformats.org/wordprocessingml/2006/main" sz="1100" b="0" ns10:eastAsia="微软雅黑">
                <a:solidFill>
                  <a:srgbClr val="A9B8CC"/>
                </a:solidFill>
                <a:latin typeface="微软雅黑"/>
              </a:rPr>
              <a:t>阶段结论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2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1="http://schemas.openxmlformats.org/wordprocessingml/2006/main" sz="1300" b="1" ns11:eastAsia="微软雅黑">
                <a:solidFill>
                  <a:srgbClr val="F2F6FA"/>
                </a:solidFill>
                <a:latin typeface="微软雅黑"/>
              </a:rPr>
              <a:t>评审官</a:t>
            </a:r>
          </a:p>
          <a:p>
            <a:pPr algn="ctr">
              <a:spcAft>
                <a:spcPts val="200"/>
              </a:spcAft>
            </a:pPr>
            <a:r>
              <a:rPr xmlns:ns12="http://schemas.openxmlformats.org/wordprocessingml/2006/main" sz="1100" b="0" ns12:eastAsia="微软雅黑">
                <a:solidFill>
                  <a:srgbClr val="A9B8CC"/>
                </a:solidFill>
                <a:latin typeface="微软雅黑"/>
              </a:rPr>
              <a:t>终审裁决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9448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3="http://schemas.openxmlformats.org/wordprocessingml/2006/main" sz="1300" b="1" ns13:eastAsia="微软雅黑">
                <a:solidFill>
                  <a:srgbClr val="F2F6FA"/>
                </a:solidFill>
                <a:latin typeface="微软雅黑"/>
              </a:rPr>
              <a:t>路演官</a:t>
            </a:r>
          </a:p>
          <a:p>
            <a:pPr algn="ctr">
              <a:spcAft>
                <a:spcPts val="200"/>
              </a:spcAft>
            </a:pPr>
            <a:r>
              <a:rPr xmlns:ns14="http://schemas.openxmlformats.org/wordprocessingml/2006/main" sz="1100" b="0" ns14:eastAsia="微软雅黑">
                <a:solidFill>
                  <a:srgbClr val="A9B8CC"/>
                </a:solidFill>
                <a:latin typeface="微软雅黑"/>
              </a:rPr>
              <a:t>模拟问答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0776" y="2103120"/>
            <a:ext cx="1298448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12B5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53928" y="2240280"/>
            <a:ext cx="115214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xmlns:ns15="http://schemas.openxmlformats.org/wordprocessingml/2006/main" sz="1300" b="1" ns15:eastAsia="微软雅黑">
                <a:solidFill>
                  <a:srgbClr val="F2F6FA"/>
                </a:solidFill>
                <a:latin typeface="微软雅黑"/>
              </a:rPr>
              <a:t>12 份</a:t>
            </a:r>
          </a:p>
          <a:p>
            <a:pPr algn="ctr">
              <a:spcAft>
                <a:spcPts val="200"/>
              </a:spcAft>
            </a:pPr>
            <a:r>
              <a:rPr xmlns:ns16="http://schemas.openxmlformats.org/wordprocessingml/2006/main" sz="1100" b="0" ns16:eastAsia="微软雅黑">
                <a:solidFill>
                  <a:srgbClr val="A9B8CC"/>
                </a:solidFill>
                <a:latin typeface="微软雅黑"/>
              </a:rPr>
              <a:t>可追溯报告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77639"/>
            <a:ext cx="10149840" cy="50292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1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7="http://schemas.openxmlformats.org/wordprocessingml/2006/main" sz="1400" b="1" ns17:eastAsia="微软雅黑">
                <a:solidFill>
                  <a:srgbClr val="12B5A3"/>
                </a:solidFill>
                <a:latin typeface="微软雅黑"/>
              </a:rPr>
              <a:t>第一层 8 个 Agent 由依赖图自动调度、同时开工；后四层严格等待前置层完成。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xmlns:ns18="http://schemas.openxmlformats.org/wordprocessingml/2006/main" sz="1500" b="0" ns18:eastAsia="微软雅黑">
                <a:solidFill>
                  <a:srgbClr val="F2F6FA"/>
                </a:solidFill>
                <a:latin typeface="微软雅黑"/>
              </a:rPr>
              <a:t>并行不是人为开线程，而是执行器根据依赖图自动识别“当前谁可以跑”。</a:t>
            </a:r>
          </a:p>
          <a:p>
            <a:pPr algn="l">
              <a:spcAft>
                <a:spcPts val="800"/>
              </a:spcAft>
            </a:pPr>
            <a:r>
              <a:rPr xmlns:ns19="http://schemas.openxmlformats.org/wordprocessingml/2006/main" sz="1400" b="0" ns19:eastAsia="微软雅黑">
                <a:solidFill>
                  <a:srgbClr val="A9B8CC"/>
                </a:solidFill>
                <a:latin typeface="微软雅黑"/>
              </a:rPr>
              <a:t>真实运行：L0 八棒同秒启动，最大并发 8。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0="http://schemas.openxmlformats.org/wordprocessingml/2006/main" sz="1000" b="0" ns20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21="http://schemas.openxmlformats.org/wordprocessingml/2006/main" sz="1000" b="0" ns21:eastAsia="微软雅黑">
                <a:solidFill>
                  <a:srgbClr val="A9B8CC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红队质疑案例（真实 Run 原文节选）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86400" cy="429768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1700" b="1" ns1:eastAsia="微软雅黑">
                <a:solidFill>
                  <a:srgbClr val="E54B4B"/>
                </a:solidFill>
                <a:latin typeface="微软雅黑"/>
              </a:rPr>
              <a:t>【付费假设｜致命】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9834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xmlns:ns2="http://schemas.openxmlformats.org/wordprocessingml/2006/main" sz="1500" b="0" ns2:eastAsia="微软雅黑">
                <a:solidFill>
                  <a:srgbClr val="F2F6FA"/>
                </a:solidFill>
                <a:latin typeface="微软雅黑"/>
              </a:rPr>
              <a:t>“仅凭 2 所学校老师口头表示感兴趣，不构成任何付费证据——口头兴趣 ≠ 立项意向 ≠ 预算落实 ≠ 采购流程启动。”</a:t>
            </a:r>
          </a:p>
          <a:p>
            <a:pPr algn="l">
              <a:spcAft>
                <a:spcPts val="1000"/>
              </a:spcAft>
            </a:pPr>
            <a:r>
              <a:rPr xmlns:ns3="http://schemas.openxmlformats.org/wordprocessingml/2006/main" sz="1300" b="0" ns3:eastAsia="微软雅黑">
                <a:solidFill>
                  <a:srgbClr val="A9B8CC"/>
                </a:solidFill>
                <a:latin typeface="微软雅黑"/>
              </a:rPr>
              <a:t>采购主体、预算科目、审批链条、历史同类采购案例、客单价、决策者角色——全部为零，采购即不存在。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486400" cy="429768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2763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700" b="1" ns4:eastAsia="微软雅黑">
                <a:solidFill>
                  <a:srgbClr val="E54B4B"/>
                </a:solidFill>
                <a:latin typeface="微软雅黑"/>
              </a:rPr>
              <a:t>【增长假设｜致命】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194560"/>
            <a:ext cx="49834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xmlns:ns5="http://schemas.openxmlformats.org/wordprocessingml/2006/main" sz="1500" b="0" ns5:eastAsia="微软雅黑">
                <a:solidFill>
                  <a:srgbClr val="F2F6FA"/>
                </a:solidFill>
                <a:latin typeface="微软雅黑"/>
              </a:rPr>
              <a:t>“没有渠道入口、没有触发场景、没有种子用户获取动作。所谓‘上线即服务’实为‘上线即静默’。”</a:t>
            </a:r>
          </a:p>
          <a:p>
            <a:pPr algn="l">
              <a:spcAft>
                <a:spcPts val="1000"/>
              </a:spcAft>
            </a:pPr>
            <a:r>
              <a:rPr xmlns:ns6="http://schemas.openxmlformats.org/wordprocessingml/2006/main" sz="1300" b="0" ns6:eastAsia="微软雅黑">
                <a:solidFill>
                  <a:srgbClr val="A9B8CC"/>
                </a:solidFill>
                <a:latin typeface="微软雅黑"/>
              </a:rPr>
              <a:t>增长目标缺乏 渠道 × 流量 × 转化率 × 时间 四要素推导，连最基础的地推成本都未测算。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400" b="1" ns7:eastAsia="微软雅黑">
                <a:solidFill>
                  <a:srgbClr val="12B5A3"/>
                </a:solidFill>
                <a:latin typeface="微软雅黑"/>
              </a:rPr>
              <a:t>五维攻击：需求 / 付费 / 竞争 / 增长 / 壁垒，每一维都必须引用项目原文并给出“待验证证据”。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000" b="0" ns8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9="http://schemas.openxmlformats.org/wordprocessingml/2006/main" sz="1000" b="0" ns9:eastAsia="微软雅黑">
                <a:solidFill>
                  <a:srgbClr val="A9B8CC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风险红线：一票否决由程序执行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566160" cy="960120"/>
          </a:xfrm>
          <a:prstGeom prst="roundRect">
            <a:avLst/>
          </a:prstGeom>
          <a:solidFill>
            <a:srgbClr val="142E52"/>
          </a:solidFill>
          <a:ln w="1524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1600" b="1" ns1:eastAsia="微软雅黑">
                <a:solidFill>
                  <a:srgbClr val="F2F6FA"/>
                </a:solidFill>
                <a:latin typeface="微软雅黑"/>
              </a:rPr>
              <a:t>备案与资质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566160" cy="960120"/>
          </a:xfrm>
          <a:prstGeom prst="roundRect">
            <a:avLst/>
          </a:prstGeom>
          <a:solidFill>
            <a:srgbClr val="142E52"/>
          </a:solidFill>
          <a:ln w="1524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5564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600" b="1" ns2:eastAsia="微软雅黑">
                <a:solidFill>
                  <a:srgbClr val="F2F6FA"/>
                </a:solidFill>
                <a:latin typeface="微软雅黑"/>
              </a:rPr>
              <a:t>数据授权与隐私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554480"/>
            <a:ext cx="3566160" cy="960120"/>
          </a:xfrm>
          <a:prstGeom prst="roundRect">
            <a:avLst/>
          </a:prstGeom>
          <a:solidFill>
            <a:srgbClr val="142E52"/>
          </a:solidFill>
          <a:ln w="1524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75564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600" b="1" ns3:eastAsia="微软雅黑">
                <a:solidFill>
                  <a:srgbClr val="F2F6FA"/>
                </a:solidFill>
                <a:latin typeface="微软雅黑"/>
              </a:rPr>
              <a:t>内容安全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3566160" cy="960120"/>
          </a:xfrm>
          <a:prstGeom prst="roundRect">
            <a:avLst/>
          </a:prstGeom>
          <a:solidFill>
            <a:srgbClr val="142E52"/>
          </a:solidFill>
          <a:ln w="1524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900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600" b="1" ns4:eastAsia="微软雅黑">
                <a:solidFill>
                  <a:srgbClr val="F2F6FA"/>
                </a:solidFill>
                <a:latin typeface="微软雅黑"/>
              </a:rPr>
              <a:t>误导性建议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788920"/>
            <a:ext cx="3566160" cy="960120"/>
          </a:xfrm>
          <a:prstGeom prst="roundRect">
            <a:avLst/>
          </a:prstGeom>
          <a:solidFill>
            <a:srgbClr val="142E52"/>
          </a:solidFill>
          <a:ln w="1524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9900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600" b="1" ns5:eastAsia="微软雅黑">
                <a:solidFill>
                  <a:srgbClr val="F2F6FA"/>
                </a:solidFill>
                <a:latin typeface="微软雅黑"/>
              </a:rPr>
              <a:t>伦理公平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788920"/>
            <a:ext cx="3566160" cy="960120"/>
          </a:xfrm>
          <a:prstGeom prst="roundRect">
            <a:avLst/>
          </a:prstGeom>
          <a:solidFill>
            <a:srgbClr val="142E52"/>
          </a:solidFill>
          <a:ln w="15240">
            <a:solidFill>
              <a:srgbClr val="E54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9900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600" b="1" ns6:eastAsia="微软雅黑">
                <a:solidFill>
                  <a:srgbClr val="F2F6FA"/>
                </a:solidFill>
                <a:latin typeface="微软雅黑"/>
              </a:rPr>
              <a:t>落地合规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11183112" cy="1371600"/>
          </a:xfrm>
          <a:prstGeom prst="roundRect">
            <a:avLst/>
          </a:prstGeom>
          <a:solidFill>
            <a:srgbClr val="142E52"/>
          </a:solidFill>
          <a:ln w="1905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70832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500" b="0" ns7:eastAsia="微软雅黑">
                <a:solidFill>
                  <a:srgbClr val="F2F6FA"/>
                </a:solidFill>
                <a:latin typeface="微软雅黑"/>
              </a:rPr>
              <a:t>即使其他委员结论乐观，只要存在未处置的致命风险，程序会强制改判为“不予终审”，</a:t>
            </a:r>
          </a:p>
          <a:p>
            <a:pPr algn="l">
              <a:spcAft>
                <a:spcPts val="600"/>
              </a:spcAft>
            </a:pPr>
            <a:r>
              <a:rPr xmlns:ns8="http://schemas.openxmlformats.org/wordprocessingml/2006/main" sz="1500" b="1" ns8:eastAsia="微软雅黑">
                <a:solidFill>
                  <a:srgbClr val="FF8A3D"/>
                </a:solidFill>
                <a:latin typeface="微软雅黑"/>
              </a:rPr>
              <a:t>并在终审页留下“系统规则强制”留痕——否决权是系统规则，不是提示词里的一句请求。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9="http://schemas.openxmlformats.org/wordprocessingml/2006/main" sz="1000" b="0" ns9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0="http://schemas.openxmlformats.org/wordprocessingml/2006/main" sz="1000" b="0" ns10:eastAsia="微软雅黑">
                <a:solidFill>
                  <a:srgbClr val="A9B8CC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为什么它“跑得稳、判得准”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566160" cy="35661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566160" cy="10972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1900" b="1" ns1:eastAsia="微软雅黑">
                <a:solidFill>
                  <a:srgbClr val="F2F6FA"/>
                </a:solidFill>
                <a:latin typeface="微软雅黑"/>
              </a:rPr>
              <a:t>依赖图调度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1400" b="0" ns2:eastAsia="微软雅黑">
                <a:solidFill>
                  <a:srgbClr val="A9B8CC"/>
                </a:solidFill>
                <a:latin typeface="微软雅黑"/>
              </a:rPr>
              <a:t>12 个 Agent 按 hard/soft 依赖自动分层并行；单棒失败按策略阻断或降级，不拖垮全流程。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566160" cy="35661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566160" cy="10972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2024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900" b="1" ns3:eastAsia="微软雅黑">
                <a:solidFill>
                  <a:srgbClr val="F2F6FA"/>
                </a:solidFill>
                <a:latin typeface="微软雅黑"/>
              </a:rPr>
              <a:t>程序校验 + 自动返工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1400" b="0" ns4:eastAsia="微软雅黑">
                <a:solidFill>
                  <a:srgbClr val="A9B8CC"/>
                </a:solidFill>
                <a:latin typeface="微软雅黑"/>
              </a:rPr>
              <a:t>每份输出先过确定性校验器；error 或结构性 warning 自动返工一次并留存证据，问题输出不进下游。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54480"/>
            <a:ext cx="3566160" cy="35661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554480"/>
            <a:ext cx="356616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92024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900" b="1" ns5:eastAsia="微软雅黑">
                <a:solidFill>
                  <a:srgbClr val="F2F6FA"/>
                </a:solidFill>
                <a:latin typeface="微软雅黑"/>
              </a:rPr>
              <a:t>断点续跑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65176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6="http://schemas.openxmlformats.org/wordprocessingml/2006/main" sz="1400" b="0" ns6:eastAsia="微软雅黑">
                <a:solidFill>
                  <a:srgbClr val="A9B8CC"/>
                </a:solidFill>
                <a:latin typeface="微软雅黑"/>
              </a:rPr>
              <a:t>Checkpoint 记录完整图状态；中断后重算可执行节点，已完成的棒本地回读、不重复花钱调用。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949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7="http://schemas.openxmlformats.org/wordprocessingml/2006/main" sz="1800" b="1" ns7:eastAsia="微软雅黑">
                <a:solidFill>
                  <a:srgbClr val="12B5A3"/>
                </a:solidFill>
                <a:latin typeface="微软雅黑"/>
              </a:rPr>
              <a:t>工程观：LLM 是不受信任的执行者，程序负责最终约束。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8="http://schemas.openxmlformats.org/wordprocessingml/2006/main" sz="1000" b="0" ns8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9="http://schemas.openxmlformats.org/wordprocessingml/2006/main" sz="1000" b="0" ns9:eastAsia="微软雅黑">
                <a:solidFill>
                  <a:srgbClr val="A9B8CC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验收数据：只展示有证据的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2651760" cy="292608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2651760" cy="10972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="http://schemas.openxmlformats.org/wordprocessingml/2006/main" sz="4400" b="1" ns1:eastAsia="微软雅黑">
                <a:solidFill>
                  <a:srgbClr val="12B5A3"/>
                </a:solidFill>
                <a:latin typeface="微软雅黑"/>
              </a:rP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xmlns:ns2="http://schemas.openxmlformats.org/wordprocessingml/2006/main" sz="1300" b="1" ns2:eastAsia="微软雅黑">
                <a:solidFill>
                  <a:srgbClr val="F2F6FA"/>
                </a:solidFill>
                <a:latin typeface="微软雅黑"/>
              </a:rPr>
              <a:t>真实 API 全链路成功</a:t>
            </a:r>
          </a:p>
          <a:p>
            <a:pPr algn="ctr">
              <a:spcAft>
                <a:spcPts val="300"/>
              </a:spcAft>
            </a:pPr>
            <a:r>
              <a:rPr xmlns:ns3="http://schemas.openxmlformats.org/wordprocessingml/2006/main" sz="1300" b="0" ns3:eastAsia="微软雅黑">
                <a:solidFill>
                  <a:srgbClr val="A9B8CC"/>
                </a:solidFill>
                <a:latin typeface="微软雅黑"/>
              </a:rPr>
              <a:t>Run 可复查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645920"/>
            <a:ext cx="2651760" cy="292608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0712" y="1645920"/>
            <a:ext cx="2651760" cy="109728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2057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4400" b="1" ns4:eastAsia="微软雅黑">
                <a:solidFill>
                  <a:srgbClr val="FF8A3D"/>
                </a:solidFill>
                <a:latin typeface="微软雅黑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1546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xmlns:ns5="http://schemas.openxmlformats.org/wordprocessingml/2006/main" sz="1300" b="1" ns5:eastAsia="微软雅黑">
                <a:solidFill>
                  <a:srgbClr val="F2F6FA"/>
                </a:solidFill>
                <a:latin typeface="微软雅黑"/>
              </a:rPr>
              <a:t>委员真实并行</a:t>
            </a:r>
          </a:p>
          <a:p>
            <a:pPr algn="ctr">
              <a:spcAft>
                <a:spcPts val="300"/>
              </a:spcAft>
            </a:pPr>
            <a:r>
              <a:rPr xmlns:ns6="http://schemas.openxmlformats.org/wordprocessingml/2006/main" sz="1300" b="0" ns6:eastAsia="微软雅黑">
                <a:solidFill>
                  <a:srgbClr val="A9B8CC"/>
                </a:solidFill>
                <a:latin typeface="微软雅黑"/>
              </a:rPr>
              <a:t>两次真实运行 363.8s→267.8s*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645920"/>
            <a:ext cx="2651760" cy="292608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645920"/>
            <a:ext cx="265176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2057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4400" b="1" ns7:eastAsia="微软雅黑">
                <a:solidFill>
                  <a:srgbClr val="E54B4B"/>
                </a:solidFill>
                <a:latin typeface="微软雅黑"/>
              </a:rPr>
              <a:t>270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31546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xmlns:ns8="http://schemas.openxmlformats.org/wordprocessingml/2006/main" sz="1300" b="1" ns8:eastAsia="微软雅黑">
                <a:solidFill>
                  <a:srgbClr val="F2F6FA"/>
                </a:solidFill>
                <a:latin typeface="微软雅黑"/>
              </a:rPr>
              <a:t>项离线自动化验收</a:t>
            </a:r>
          </a:p>
          <a:p>
            <a:pPr algn="ctr">
              <a:spcAft>
                <a:spcPts val="300"/>
              </a:spcAft>
            </a:pPr>
            <a:r>
              <a:rPr xmlns:ns9="http://schemas.openxmlformats.org/wordprocessingml/2006/main" sz="1300" b="0" ns9:eastAsia="微软雅黑">
                <a:solidFill>
                  <a:srgbClr val="A9B8CC"/>
                </a:solidFill>
                <a:latin typeface="微软雅黑"/>
              </a:rPr>
              <a:t>全部通过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26296" y="1645920"/>
            <a:ext cx="2651760" cy="292608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26296" y="1645920"/>
            <a:ext cx="2651760" cy="10972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0574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0="http://schemas.openxmlformats.org/wordprocessingml/2006/main" sz="4400" b="1" ns10:eastAsia="微软雅黑">
                <a:solidFill>
                  <a:srgbClr val="12B5A3"/>
                </a:solidFill>
                <a:latin typeface="微软雅黑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315468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xmlns:ns11="http://schemas.openxmlformats.org/wordprocessingml/2006/main" sz="1300" b="1" ns11:eastAsia="微软雅黑">
                <a:solidFill>
                  <a:srgbClr val="F2F6FA"/>
                </a:solidFill>
                <a:latin typeface="微软雅黑"/>
              </a:rPr>
              <a:t>条真实故障链验证</a:t>
            </a:r>
          </a:p>
          <a:p>
            <a:pPr algn="ctr">
              <a:spcAft>
                <a:spcPts val="300"/>
              </a:spcAft>
            </a:pPr>
            <a:r>
              <a:rPr xmlns:ns12="http://schemas.openxmlformats.org/wordprocessingml/2006/main" sz="1300" b="0" ns12:eastAsia="微软雅黑">
                <a:solidFill>
                  <a:srgbClr val="A9B8CC"/>
                </a:solidFill>
                <a:latin typeface="微软雅黑"/>
              </a:rPr>
              <a:t>失败→阻断/降级→续跑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3="http://schemas.openxmlformats.org/wordprocessingml/2006/main" sz="1300" b="0" ns13:eastAsia="微软雅黑">
                <a:solidFill>
                  <a:srgbClr val="A9B8CC"/>
                </a:solidFill>
                <a:latin typeface="微软雅黑"/>
              </a:rPr>
              <a:t>* 267.8s 与 363.8s 是 2026 年 9 月两次真实运行的耗时对比，不是固定性能承诺。</a:t>
            </a:r>
          </a:p>
          <a:p>
            <a:pPr algn="l">
              <a:spcAft>
                <a:spcPts val="600"/>
              </a:spcAft>
            </a:pPr>
            <a:r>
              <a:rPr xmlns:ns14="http://schemas.openxmlformats.org/wordprocessingml/2006/main" sz="1300" b="0" ns14:eastAsia="微软雅黑">
                <a:solidFill>
                  <a:srgbClr val="A9B8CC"/>
                </a:solidFill>
                <a:latin typeface="微软雅黑"/>
              </a:rPr>
              <a:t>我们不包装未经统计验证的“准确率/性能指标”——诚实本身就是工程严谨性。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5="http://schemas.openxmlformats.org/wordprocessingml/2006/main" sz="1000" b="0" ns15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6="http://schemas.openxmlformats.org/wordprocessingml/2006/main" sz="1000" b="0" ns16:eastAsia="微软雅黑">
                <a:solidFill>
                  <a:srgbClr val="A9B8CC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384048"/>
          </a:xfrm>
          <a:prstGeom prst="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600" b="1" ns0:eastAsia="微软雅黑">
                <a:solidFill>
                  <a:srgbClr val="F2F6FA"/>
                </a:solidFill>
                <a:latin typeface="微软雅黑"/>
              </a:rPr>
              <a:t>现场演示：请盯三个瞬间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234440" cy="1188720"/>
          </a:xfrm>
          <a:prstGeom prst="roundRect">
            <a:avLst/>
          </a:prstGeom>
          <a:solidFill>
            <a:srgbClr val="12B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92807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1="http://schemas.openxmlformats.org/wordprocessingml/2006/main" sz="3000" b="1" ns1:eastAsia="微软雅黑">
                <a:solidFill>
                  <a:srgbClr val="0B1F3A"/>
                </a:solidFill>
                <a:latin typeface="微软雅黑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00200"/>
            <a:ext cx="9765792" cy="118872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1764792"/>
            <a:ext cx="9235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2="http://schemas.openxmlformats.org/wordprocessingml/2006/main" sz="1800" b="1" ns2:eastAsia="微软雅黑">
                <a:solidFill>
                  <a:srgbClr val="F2F6FA"/>
                </a:solidFill>
                <a:latin typeface="微软雅黑"/>
              </a:rPr>
              <a:t>看 8 位专家同秒开跑</a:t>
            </a:r>
          </a:p>
          <a:p>
            <a:pPr algn="l">
              <a:spcAft>
                <a:spcPts val="400"/>
              </a:spcAft>
            </a:pPr>
            <a:r>
              <a:rPr xmlns:ns3="http://schemas.openxmlformats.org/wordprocessingml/2006/main" sz="1300" b="0" ns3:eastAsia="微软雅黑">
                <a:solidFill>
                  <a:srgbClr val="A9B8CC"/>
                </a:solidFill>
                <a:latin typeface="微软雅黑"/>
              </a:rPr>
              <a:t>首页粘贴想法、点击开始，第一层 8 个 Agent 同时进入运行。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1234440" cy="1188720"/>
          </a:xfrm>
          <a:prstGeom prst="round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5584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4="http://schemas.openxmlformats.org/wordprocessingml/2006/main" sz="3000" b="1" ns4:eastAsia="微软雅黑">
                <a:solidFill>
                  <a:srgbClr val="0B1F3A"/>
                </a:solidFill>
                <a:latin typeface="微软雅黑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3063240"/>
            <a:ext cx="9765792" cy="118872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3227832"/>
            <a:ext cx="9235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5="http://schemas.openxmlformats.org/wordprocessingml/2006/main" sz="1800" b="1" ns5:eastAsia="微软雅黑">
                <a:solidFill>
                  <a:srgbClr val="F2F6FA"/>
                </a:solidFill>
                <a:latin typeface="微软雅黑"/>
              </a:rPr>
              <a:t>看红队的攻击原文</a:t>
            </a:r>
          </a:p>
          <a:p>
            <a:pPr algn="l">
              <a:spcAft>
                <a:spcPts val="400"/>
              </a:spcAft>
            </a:pPr>
            <a:r>
              <a:rPr xmlns:ns6="http://schemas.openxmlformats.org/wordprocessingml/2006/main" sz="1300" b="0" ns6:eastAsia="微软雅黑">
                <a:solidFill>
                  <a:srgbClr val="A9B8CC"/>
                </a:solidFill>
                <a:latin typeface="微软雅黑"/>
              </a:rPr>
              <a:t>针对这份项目原文逐维质疑，不是模板话术；可现场换一个想法再跑。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26280"/>
            <a:ext cx="1234440" cy="11887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818888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3000" b="1" ns7:eastAsia="微软雅黑">
                <a:solidFill>
                  <a:srgbClr val="0B1F3A"/>
                </a:solidFill>
                <a:latin typeface="微软雅黑"/>
              </a:rPr>
              <a:t>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4526280"/>
            <a:ext cx="9765792" cy="118872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4690872"/>
            <a:ext cx="9235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xmlns:ns8="http://schemas.openxmlformats.org/wordprocessingml/2006/main" sz="1800" b="1" ns8:eastAsia="微软雅黑">
                <a:solidFill>
                  <a:srgbClr val="F2F6FA"/>
                </a:solidFill>
                <a:latin typeface="微软雅黑"/>
              </a:rPr>
              <a:t>看冷静的终审结论</a:t>
            </a:r>
          </a:p>
          <a:p>
            <a:pPr algn="l">
              <a:spcAft>
                <a:spcPts val="400"/>
              </a:spcAft>
            </a:pPr>
            <a:r>
              <a:rPr xmlns:ns9="http://schemas.openxmlformats.org/wordprocessingml/2006/main" sz="1300" b="0" ns9:eastAsia="微软雅黑">
                <a:solidFill>
                  <a:srgbClr val="A9B8CC"/>
                </a:solidFill>
                <a:latin typeface="微软雅黑"/>
              </a:rPr>
              <a:t>“暂缓通过 + 3 条可验证行动”，以及 12 份可追溯报告与冲突链。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0="http://schemas.openxmlformats.org/wordprocessingml/2006/main" sz="1500" b="1" ns10:eastAsia="微软雅黑">
                <a:solidFill>
                  <a:srgbClr val="FF8A3D"/>
                </a:solidFill>
                <a:latin typeface="微软雅黑"/>
              </a:rPr>
              <a:t>系统诚实比系统乐观更有价值：它真的可能对你说“不通过”。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1="http://schemas.openxmlformats.org/wordprocessingml/2006/main" sz="1000" b="0" ns11:eastAsia="微软雅黑">
                <a:solidFill>
                  <a:srgbClr val="A9B8CC"/>
                </a:solidFill>
                <a:latin typeface="微软雅黑"/>
              </a:rPr>
              <a:t>创想∞ AI创业委员会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xmlns:ns12="http://schemas.openxmlformats.org/wordprocessingml/2006/main" sz="1000" b="0" ns12:eastAsia="微软雅黑">
                <a:solidFill>
                  <a:srgbClr val="A9B8CC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3566160" cy="26517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0="http://schemas.openxmlformats.org/wordprocessingml/2006/main" sz="2200" b="1" ns0:eastAsia="微软雅黑">
                <a:solidFill>
                  <a:srgbClr val="12B5A3"/>
                </a:solidFill>
                <a:latin typeface="微软雅黑"/>
              </a:rPr>
              <a:t>对学生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1="http://schemas.openxmlformats.org/wordprocessingml/2006/main" sz="1500" b="0" ns1:eastAsia="微软雅黑">
                <a:solidFill>
                  <a:srgbClr val="F2F6FA"/>
                </a:solidFill>
                <a:latin typeface="微软雅黑"/>
              </a:rPr>
              <a:t>在投入时间与金钱前，提前经历一次严苛、诚实的委员会拷问。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566160" cy="26517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830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2="http://schemas.openxmlformats.org/wordprocessingml/2006/main" sz="2200" b="1" ns2:eastAsia="微软雅黑">
                <a:solidFill>
                  <a:srgbClr val="12B5A3"/>
                </a:solidFill>
                <a:latin typeface="微软雅黑"/>
              </a:rPr>
              <a:t>对教师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0604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3="http://schemas.openxmlformats.org/wordprocessingml/2006/main" sz="1500" b="0" ns3:eastAsia="微软雅黑">
                <a:solidFill>
                  <a:srgbClr val="F2F6FA"/>
                </a:solidFill>
                <a:latin typeface="微软雅黑"/>
              </a:rPr>
              <a:t>12 维结构化初筛与可追溯报告，大幅降低人工评审负荷。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463040"/>
            <a:ext cx="3566160" cy="2651760"/>
          </a:xfrm>
          <a:prstGeom prst="roundRect">
            <a:avLst/>
          </a:prstGeom>
          <a:solidFill>
            <a:srgbClr val="14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78308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4="http://schemas.openxmlformats.org/wordprocessingml/2006/main" sz="2200" b="1" ns4:eastAsia="微软雅黑">
                <a:solidFill>
                  <a:srgbClr val="12B5A3"/>
                </a:solidFill>
                <a:latin typeface="微软雅黑"/>
              </a:rPr>
              <a:t>对高校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606040"/>
            <a:ext cx="3063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xmlns:ns5="http://schemas.openxmlformats.org/wordprocessingml/2006/main" sz="1500" b="0" ns5:eastAsia="微软雅黑">
                <a:solidFill>
                  <a:srgbClr val="F2F6FA"/>
                </a:solidFill>
                <a:latin typeface="微软雅黑"/>
              </a:rPr>
              <a:t>双创课程的可复盘教学工具：每个想法都留下完整审查证据链。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6="http://schemas.openxmlformats.org/wordprocessingml/2006/main" sz="3000" b="1" ns6:eastAsia="微软雅黑">
                <a:solidFill>
                  <a:srgbClr val="F2F6FA"/>
                </a:solidFill>
                <a:latin typeface="微软雅黑"/>
              </a:rPr>
              <a:t>在见投资人之前，先见你的 AI 委员会。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xmlns:ns7="http://schemas.openxmlformats.org/wordprocessingml/2006/main" sz="1600" b="1" ns7:eastAsia="微软雅黑">
                <a:solidFill>
                  <a:srgbClr val="FF8A3D"/>
                </a:solidFill>
                <a:latin typeface="微软雅黑"/>
              </a:rPr>
              <a:t>创想∞ AI创业委员会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